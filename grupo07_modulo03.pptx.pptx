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erif Display" charset="1" panose="00000000000000000000"/>
      <p:regular r:id="rId13"/>
    </p:embeddedFont>
    <p:embeddedFont>
      <p:font typeface="Open Sauce Bold" charset="1" panose="00000800000000000000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JetBrains Mono Bold" charset="1" panose="02010809030102050004"/>
      <p:regular r:id="rId17"/>
    </p:embeddedFont>
    <p:embeddedFont>
      <p:font typeface="Arimo Italics" charset="1" panose="020B060402020209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jpe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9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3969" y="4290890"/>
            <a:ext cx="6716860" cy="6716860"/>
          </a:xfrm>
          <a:custGeom>
            <a:avLst/>
            <a:gdLst/>
            <a:ahLst/>
            <a:cxnLst/>
            <a:rect r="r" b="b" t="t" l="l"/>
            <a:pathLst>
              <a:path h="6716860" w="6716860">
                <a:moveTo>
                  <a:pt x="0" y="0"/>
                </a:moveTo>
                <a:lnTo>
                  <a:pt x="6716859" y="0"/>
                </a:lnTo>
                <a:lnTo>
                  <a:pt x="671685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182759" y="-74072"/>
            <a:ext cx="7030697" cy="7200900"/>
          </a:xfrm>
          <a:custGeom>
            <a:avLst/>
            <a:gdLst/>
            <a:ahLst/>
            <a:cxnLst/>
            <a:rect r="r" b="b" t="t" l="l"/>
            <a:pathLst>
              <a:path h="7200900" w="7030697">
                <a:moveTo>
                  <a:pt x="7030697" y="7200900"/>
                </a:moveTo>
                <a:lnTo>
                  <a:pt x="0" y="7200900"/>
                </a:lnTo>
                <a:lnTo>
                  <a:pt x="0" y="0"/>
                </a:lnTo>
                <a:lnTo>
                  <a:pt x="7030697" y="0"/>
                </a:lnTo>
                <a:lnTo>
                  <a:pt x="7030697" y="72009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758621" y="2249394"/>
            <a:ext cx="14770758" cy="229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2"/>
              </a:lnSpc>
            </a:pPr>
            <a:r>
              <a:rPr lang="en-US" sz="13430">
                <a:solidFill>
                  <a:srgbClr val="343A4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ZOLPIBEAT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5712" y="6071018"/>
            <a:ext cx="4789332" cy="218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</a:pPr>
          </a:p>
          <a:p>
            <a:pPr algn="ctr">
              <a:lnSpc>
                <a:spcPts val="2532"/>
              </a:lnSpc>
            </a:pPr>
            <a:r>
              <a:rPr lang="en-US" sz="1808" b="true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</a:t>
            </a:r>
            <a:r>
              <a:rPr lang="en-US" b="true" sz="1808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MUEL FERREIRA CONTARDI</a:t>
            </a:r>
          </a:p>
          <a:p>
            <a:pPr algn="ctr">
              <a:lnSpc>
                <a:spcPts val="2532"/>
              </a:lnSpc>
            </a:pPr>
            <a:r>
              <a:rPr lang="en-US" b="true" sz="1808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WILLINGTON GABRIEL DE ANDRADE</a:t>
            </a:r>
          </a:p>
          <a:p>
            <a:pPr algn="ctr">
              <a:lnSpc>
                <a:spcPts val="2532"/>
              </a:lnSpc>
            </a:pPr>
            <a:r>
              <a:rPr lang="en-US" b="true" sz="1808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NADINE GOMES GALLEGO</a:t>
            </a:r>
          </a:p>
          <a:p>
            <a:pPr algn="ctr">
              <a:lnSpc>
                <a:spcPts val="2532"/>
              </a:lnSpc>
            </a:pPr>
            <a:r>
              <a:rPr lang="en-US" b="true" sz="1808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VINICIUS DOS SANTOS SOUZA</a:t>
            </a:r>
          </a:p>
          <a:p>
            <a:pPr algn="ctr">
              <a:lnSpc>
                <a:spcPts val="2532"/>
              </a:lnSpc>
            </a:pPr>
            <a:r>
              <a:rPr lang="en-US" b="true" sz="1808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MURILO SILVA RÉGO</a:t>
            </a:r>
          </a:p>
          <a:p>
            <a:pPr algn="ctr">
              <a:lnSpc>
                <a:spcPts val="25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42113" y="4796202"/>
            <a:ext cx="9196528" cy="101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1935" b="true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Bat</a:t>
            </a:r>
            <a:r>
              <a:rPr lang="en-US" b="true" sz="1935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ERIA ACÚSTICA DESMONTADA, EM UM AMBIENTE DE ENSAIO — MONTADA PEÇA A PEÇA NO SUPORTE DE FERRO.​</a:t>
            </a:r>
          </a:p>
          <a:p>
            <a:pPr algn="ctr">
              <a:lnSpc>
                <a:spcPts val="270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45712" y="9417864"/>
            <a:ext cx="8634699" cy="33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b="true" sz="1935">
                <a:solidFill>
                  <a:srgbClr val="343A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HTTPS://GITHUB.COM/SAMUEL-CONTARDI/AR-COMPUTER-SCIENCE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8656" y="3487712"/>
            <a:ext cx="8301038" cy="4791666"/>
            <a:chOff x="0" y="0"/>
            <a:chExt cx="11068050" cy="6388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8050" cy="6388862"/>
            </a:xfrm>
            <a:custGeom>
              <a:avLst/>
              <a:gdLst/>
              <a:ahLst/>
              <a:cxnLst/>
              <a:rect r="r" b="b" t="t" l="l"/>
              <a:pathLst>
                <a:path h="6388862" w="110680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10838815" y="0"/>
                  </a:lnTo>
                  <a:cubicBezTo>
                    <a:pt x="10965435" y="0"/>
                    <a:pt x="11068050" y="102616"/>
                    <a:pt x="11068050" y="229235"/>
                  </a:cubicBezTo>
                  <a:lnTo>
                    <a:pt x="11068050" y="6159627"/>
                  </a:lnTo>
                  <a:cubicBezTo>
                    <a:pt x="11068050" y="6286246"/>
                    <a:pt x="10965435" y="6388862"/>
                    <a:pt x="10838815" y="6388862"/>
                  </a:cubicBezTo>
                  <a:lnTo>
                    <a:pt x="229235" y="6388862"/>
                  </a:lnTo>
                  <a:cubicBezTo>
                    <a:pt x="102616" y="6388862"/>
                    <a:pt x="0" y="6286246"/>
                    <a:pt x="0" y="615962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FE3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86605" y="0"/>
            <a:ext cx="10670450" cy="11301511"/>
          </a:xfrm>
          <a:custGeom>
            <a:avLst/>
            <a:gdLst/>
            <a:ahLst/>
            <a:cxnLst/>
            <a:rect r="r" b="b" t="t" l="l"/>
            <a:pathLst>
              <a:path h="11301511" w="10670450">
                <a:moveTo>
                  <a:pt x="0" y="0"/>
                </a:moveTo>
                <a:lnTo>
                  <a:pt x="10670450" y="0"/>
                </a:lnTo>
                <a:lnTo>
                  <a:pt x="10670450" y="11301511"/>
                </a:lnTo>
                <a:lnTo>
                  <a:pt x="0" y="113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2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308306" y="3234328"/>
            <a:ext cx="8301038" cy="6289410"/>
            <a:chOff x="0" y="0"/>
            <a:chExt cx="11068050" cy="8385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68050" cy="8385930"/>
            </a:xfrm>
            <a:custGeom>
              <a:avLst/>
              <a:gdLst/>
              <a:ahLst/>
              <a:cxnLst/>
              <a:rect r="r" b="b" t="t" l="l"/>
              <a:pathLst>
                <a:path h="8385930" w="11068050">
                  <a:moveTo>
                    <a:pt x="0" y="272109"/>
                  </a:moveTo>
                  <a:cubicBezTo>
                    <a:pt x="0" y="121808"/>
                    <a:pt x="102616" y="0"/>
                    <a:pt x="229235" y="0"/>
                  </a:cubicBezTo>
                  <a:lnTo>
                    <a:pt x="10838815" y="0"/>
                  </a:lnTo>
                  <a:cubicBezTo>
                    <a:pt x="10965434" y="0"/>
                    <a:pt x="11068050" y="121808"/>
                    <a:pt x="11068050" y="272109"/>
                  </a:cubicBezTo>
                  <a:lnTo>
                    <a:pt x="11068050" y="8113830"/>
                  </a:lnTo>
                  <a:cubicBezTo>
                    <a:pt x="11068050" y="8264130"/>
                    <a:pt x="10965434" y="8385930"/>
                    <a:pt x="10838815" y="8385930"/>
                  </a:cubicBezTo>
                  <a:lnTo>
                    <a:pt x="229235" y="8385930"/>
                  </a:lnTo>
                  <a:cubicBezTo>
                    <a:pt x="102616" y="8385931"/>
                    <a:pt x="0" y="8264132"/>
                    <a:pt x="0" y="811383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42988" y="4566418"/>
            <a:ext cx="7572375" cy="1376953"/>
            <a:chOff x="0" y="0"/>
            <a:chExt cx="10096500" cy="18359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96500" cy="1835912"/>
            </a:xfrm>
            <a:custGeom>
              <a:avLst/>
              <a:gdLst/>
              <a:ahLst/>
              <a:cxnLst/>
              <a:rect r="r" b="b" t="t" l="l"/>
              <a:pathLst>
                <a:path h="1835912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1835912"/>
                  </a:lnTo>
                  <a:lnTo>
                    <a:pt x="0" y="1835912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72638" y="4313034"/>
            <a:ext cx="7572375" cy="2737618"/>
            <a:chOff x="0" y="0"/>
            <a:chExt cx="10096500" cy="3650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96500" cy="3650100"/>
            </a:xfrm>
            <a:custGeom>
              <a:avLst/>
              <a:gdLst/>
              <a:ahLst/>
              <a:cxnLst/>
              <a:rect r="r" b="b" t="t" l="l"/>
              <a:pathLst>
                <a:path h="3650100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3650100"/>
                  </a:lnTo>
                  <a:lnTo>
                    <a:pt x="0" y="3650100"/>
                  </a:lnTo>
                  <a:close/>
                </a:path>
              </a:pathLst>
            </a:custGeom>
            <a:solidFill>
              <a:srgbClr val="E1EFE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55969" y="7343556"/>
            <a:ext cx="7572375" cy="1799111"/>
            <a:chOff x="0" y="0"/>
            <a:chExt cx="10096500" cy="23988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65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2398776"/>
                  </a:lnTo>
                  <a:lnTo>
                    <a:pt x="0" y="2398776"/>
                  </a:lnTo>
                  <a:close/>
                </a:path>
              </a:pathLst>
            </a:custGeom>
            <a:solidFill>
              <a:srgbClr val="FEF2F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2988" y="4566418"/>
            <a:ext cx="57150" cy="1376953"/>
            <a:chOff x="0" y="0"/>
            <a:chExt cx="76200" cy="1835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" cy="1835912"/>
            </a:xfrm>
            <a:custGeom>
              <a:avLst/>
              <a:gdLst/>
              <a:ahLst/>
              <a:cxnLst/>
              <a:rect r="r" b="b" t="t" l="l"/>
              <a:pathLst>
                <a:path h="1835912" w="76200">
                  <a:moveTo>
                    <a:pt x="0" y="0"/>
                  </a:moveTo>
                  <a:lnTo>
                    <a:pt x="76200" y="0"/>
                  </a:lnTo>
                  <a:lnTo>
                    <a:pt x="76200" y="1835912"/>
                  </a:lnTo>
                  <a:lnTo>
                    <a:pt x="0" y="1835912"/>
                  </a:lnTo>
                  <a:close/>
                </a:path>
              </a:pathLst>
            </a:custGeom>
            <a:solidFill>
              <a:srgbClr val="0F51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72638" y="4313034"/>
            <a:ext cx="57150" cy="2728294"/>
            <a:chOff x="0" y="0"/>
            <a:chExt cx="50780" cy="24242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780" cy="2424166"/>
            </a:xfrm>
            <a:custGeom>
              <a:avLst/>
              <a:gdLst/>
              <a:ahLst/>
              <a:cxnLst/>
              <a:rect r="r" b="b" t="t" l="l"/>
              <a:pathLst>
                <a:path h="2424166" w="50780">
                  <a:moveTo>
                    <a:pt x="0" y="0"/>
                  </a:moveTo>
                  <a:lnTo>
                    <a:pt x="50780" y="0"/>
                  </a:lnTo>
                  <a:lnTo>
                    <a:pt x="50780" y="2424166"/>
                  </a:lnTo>
                  <a:lnTo>
                    <a:pt x="0" y="2424166"/>
                  </a:lnTo>
                  <a:close/>
                </a:path>
              </a:pathLst>
            </a:custGeom>
            <a:solidFill>
              <a:srgbClr val="0F513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55969" y="7343556"/>
            <a:ext cx="57150" cy="1799111"/>
            <a:chOff x="0" y="0"/>
            <a:chExt cx="76200" cy="23988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2398776"/>
            </a:xfrm>
            <a:custGeom>
              <a:avLst/>
              <a:gdLst/>
              <a:ahLst/>
              <a:cxnLst/>
              <a:rect r="r" b="b" t="t" l="l"/>
              <a:pathLst>
                <a:path h="2398776" w="76200">
                  <a:moveTo>
                    <a:pt x="0" y="0"/>
                  </a:moveTo>
                  <a:lnTo>
                    <a:pt x="76200" y="0"/>
                  </a:lnTo>
                  <a:lnTo>
                    <a:pt x="76200" y="2398776"/>
                  </a:lnTo>
                  <a:lnTo>
                    <a:pt x="0" y="239877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86525" y="6200556"/>
            <a:ext cx="2128838" cy="285750"/>
            <a:chOff x="0" y="0"/>
            <a:chExt cx="2838450" cy="38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384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3845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762250" y="0"/>
                  </a:lnTo>
                  <a:cubicBezTo>
                    <a:pt x="2804287" y="0"/>
                    <a:pt x="2838450" y="34163"/>
                    <a:pt x="2838450" y="76200"/>
                  </a:cubicBezTo>
                  <a:lnTo>
                    <a:pt x="2838450" y="304800"/>
                  </a:lnTo>
                  <a:cubicBezTo>
                    <a:pt x="2838450" y="346837"/>
                    <a:pt x="2804287" y="381000"/>
                    <a:pt x="2762250" y="381000"/>
                  </a:cubicBezTo>
                  <a:lnTo>
                    <a:pt x="76200" y="381000"/>
                  </a:lnTo>
                  <a:cubicBezTo>
                    <a:pt x="34163" y="381000"/>
                    <a:pt x="0" y="346837"/>
                    <a:pt x="0" y="3048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42988" y="6629181"/>
            <a:ext cx="3714750" cy="571500"/>
            <a:chOff x="0" y="0"/>
            <a:chExt cx="4953000" cy="76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53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609600"/>
                  </a:lnTo>
                  <a:cubicBezTo>
                    <a:pt x="4953000" y="693801"/>
                    <a:pt x="4884801" y="762000"/>
                    <a:pt x="4800600" y="762000"/>
                  </a:cubicBezTo>
                  <a:lnTo>
                    <a:pt x="152400" y="762000"/>
                  </a:lnTo>
                  <a:cubicBezTo>
                    <a:pt x="68199" y="762000"/>
                    <a:pt x="0" y="693801"/>
                    <a:pt x="0" y="609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00612" y="6629181"/>
            <a:ext cx="3714750" cy="571500"/>
            <a:chOff x="0" y="0"/>
            <a:chExt cx="495300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53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609600"/>
                  </a:lnTo>
                  <a:cubicBezTo>
                    <a:pt x="4953000" y="693801"/>
                    <a:pt x="4884801" y="762000"/>
                    <a:pt x="4800600" y="762000"/>
                  </a:cubicBezTo>
                  <a:lnTo>
                    <a:pt x="152400" y="762000"/>
                  </a:lnTo>
                  <a:cubicBezTo>
                    <a:pt x="68199" y="762000"/>
                    <a:pt x="0" y="693801"/>
                    <a:pt x="0" y="609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2988" y="7343556"/>
            <a:ext cx="3714750" cy="571500"/>
            <a:chOff x="0" y="0"/>
            <a:chExt cx="4953000" cy="76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3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609600"/>
                  </a:lnTo>
                  <a:cubicBezTo>
                    <a:pt x="4953000" y="693801"/>
                    <a:pt x="4884801" y="762000"/>
                    <a:pt x="4800600" y="762000"/>
                  </a:cubicBezTo>
                  <a:lnTo>
                    <a:pt x="152400" y="762000"/>
                  </a:lnTo>
                  <a:cubicBezTo>
                    <a:pt x="68199" y="762000"/>
                    <a:pt x="0" y="693801"/>
                    <a:pt x="0" y="609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00612" y="7343556"/>
            <a:ext cx="3714750" cy="571500"/>
            <a:chOff x="0" y="0"/>
            <a:chExt cx="495300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53000" cy="762000"/>
            </a:xfrm>
            <a:custGeom>
              <a:avLst/>
              <a:gdLst/>
              <a:ahLst/>
              <a:cxnLst/>
              <a:rect r="r" b="b" t="t" l="l"/>
              <a:pathLst>
                <a:path h="762000" w="4953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00600" y="0"/>
                  </a:lnTo>
                  <a:cubicBezTo>
                    <a:pt x="4884801" y="0"/>
                    <a:pt x="4953000" y="68199"/>
                    <a:pt x="4953000" y="152400"/>
                  </a:cubicBezTo>
                  <a:lnTo>
                    <a:pt x="4953000" y="609600"/>
                  </a:lnTo>
                  <a:cubicBezTo>
                    <a:pt x="4953000" y="693801"/>
                    <a:pt x="4884801" y="762000"/>
                    <a:pt x="4800600" y="762000"/>
                  </a:cubicBezTo>
                  <a:lnTo>
                    <a:pt x="152400" y="762000"/>
                  </a:lnTo>
                  <a:cubicBezTo>
                    <a:pt x="68199" y="762000"/>
                    <a:pt x="0" y="693801"/>
                    <a:pt x="0" y="609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42988" y="3852043"/>
            <a:ext cx="457200" cy="457200"/>
            <a:chOff x="0" y="0"/>
            <a:chExt cx="609600" cy="6096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72638" y="3598659"/>
            <a:ext cx="457200" cy="457200"/>
            <a:chOff x="0" y="0"/>
            <a:chExt cx="609600" cy="6096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28712" y="3966343"/>
            <a:ext cx="285750" cy="228600"/>
            <a:chOff x="0" y="0"/>
            <a:chExt cx="381000" cy="3048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25" r="0" b="-312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01225" y="3712959"/>
            <a:ext cx="200025" cy="228600"/>
            <a:chOff x="0" y="0"/>
            <a:chExt cx="266700" cy="3048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85800" y="561975"/>
            <a:ext cx="10274903" cy="42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566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ESPECIFICAÇÃO DE DOMÍNIO &amp; ARQUITETURA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5800" y="1245715"/>
            <a:ext cx="10877536" cy="115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51"/>
              </a:lnSpc>
              <a:spcBef>
                <a:spcPct val="0"/>
              </a:spcBef>
            </a:pPr>
            <a:r>
              <a:rPr lang="en-US" sz="8651" strike="noStrike" u="none">
                <a:solidFill>
                  <a:srgbClr val="0F513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 CENA E A TAREFA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3062" y="3871093"/>
            <a:ext cx="157519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8738" y="4728343"/>
            <a:ext cx="88225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TAREFA &amp; ESTADO DE CONCLUSÃO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8738" y="5004568"/>
            <a:ext cx="7200900" cy="70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5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Montar a bateria pegando cada peça do chão e encaixando-a no suporte de ferro correspondente.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42988" y="6183397"/>
            <a:ext cx="7746601" cy="320069"/>
            <a:chOff x="0" y="0"/>
            <a:chExt cx="10328801" cy="4267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28801" cy="426758"/>
            </a:xfrm>
            <a:custGeom>
              <a:avLst/>
              <a:gdLst/>
              <a:ahLst/>
              <a:cxnLst/>
              <a:rect r="r" b="b" t="t" l="l"/>
              <a:pathLst>
                <a:path h="426758" w="10328801">
                  <a:moveTo>
                    <a:pt x="0" y="0"/>
                  </a:moveTo>
                  <a:lnTo>
                    <a:pt x="10328801" y="0"/>
                  </a:lnTo>
                  <a:lnTo>
                    <a:pt x="10328801" y="426758"/>
                  </a:lnTo>
                  <a:lnTo>
                    <a:pt x="0" y="42675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1596" r="-22188" b="-5208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0328801" cy="436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PEÇAS E ESCALAS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272712" y="3617709"/>
            <a:ext cx="195024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POR QUÊ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215562" y="4513059"/>
            <a:ext cx="8072438" cy="257175"/>
            <a:chOff x="0" y="0"/>
            <a:chExt cx="10763250" cy="3429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63250" cy="342900"/>
            </a:xfrm>
            <a:custGeom>
              <a:avLst/>
              <a:gdLst/>
              <a:ahLst/>
              <a:cxnLst/>
              <a:rect r="r" b="b" t="t" l="l"/>
              <a:pathLst>
                <a:path h="3429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13" r="0" b="-56161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0763250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0F513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 QUE A CENA ENDURECE (CUSTO TÉCNICO)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929812" y="4798809"/>
            <a:ext cx="7258050" cy="205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Exige que o suporte de ferro seja modelado como árvore, com um nó por haste/socket, para que a operação de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encaixe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do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mó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ulos segu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tes (que a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nda nã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exi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te)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tenha em que se apo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ia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— rep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are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ntar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re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calcu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la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 manualmen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 é o que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Módul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03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rega; a tolerância em centímetros e graus fica para o módulo de manipulação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198894" y="7543581"/>
            <a:ext cx="8072438" cy="257175"/>
            <a:chOff x="0" y="0"/>
            <a:chExt cx="10763250" cy="3429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63250" cy="342900"/>
            </a:xfrm>
            <a:custGeom>
              <a:avLst/>
              <a:gdLst/>
              <a:ahLst/>
              <a:cxnLst/>
              <a:rect r="r" b="b" t="t" l="l"/>
              <a:pathLst>
                <a:path h="3429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61613" r="0" b="-56161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763250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91C1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ARMADILHA QUE VEIO JUNTO (RISCO)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913144" y="7829331"/>
            <a:ext cx="7258050" cy="102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 a á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vo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 nã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tive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ó p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ncaixe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a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ora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ódul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19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de manipulação teria que criar esses pontos de referência depois — refazendo o que já devia estar pronto.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2988" y="6205318"/>
            <a:ext cx="221456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PEÇAS E ESCALAS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600825" y="6229131"/>
            <a:ext cx="20431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 unidade = 1 metro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43012" y="6760140"/>
            <a:ext cx="1185862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Bumbo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786188" y="6772056"/>
            <a:ext cx="12001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687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0,60 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100638" y="6760140"/>
            <a:ext cx="102870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Caixa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643812" y="6772056"/>
            <a:ext cx="12001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687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0,35 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43012" y="7474515"/>
            <a:ext cx="2000250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Prato-Chimbal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786188" y="7486431"/>
            <a:ext cx="12001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687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0,40 m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00638" y="7474515"/>
            <a:ext cx="1871662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Prato-Ataque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643812" y="7486431"/>
            <a:ext cx="12001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687">
                <a:solidFill>
                  <a:srgbClr val="0F5132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0,40 m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-10800000">
            <a:off x="-1821656" y="8822303"/>
            <a:ext cx="7315200" cy="4003409"/>
          </a:xfrm>
          <a:custGeom>
            <a:avLst/>
            <a:gdLst/>
            <a:ahLst/>
            <a:cxnLst/>
            <a:rect r="r" b="b" t="t" l="l"/>
            <a:pathLst>
              <a:path h="4003409" w="7315200">
                <a:moveTo>
                  <a:pt x="0" y="0"/>
                </a:moveTo>
                <a:lnTo>
                  <a:pt x="7315200" y="0"/>
                </a:lnTo>
                <a:lnTo>
                  <a:pt x="7315200" y="4003409"/>
                </a:lnTo>
                <a:lnTo>
                  <a:pt x="0" y="40034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86605" y="0"/>
            <a:ext cx="10670450" cy="11301511"/>
          </a:xfrm>
          <a:custGeom>
            <a:avLst/>
            <a:gdLst/>
            <a:ahLst/>
            <a:cxnLst/>
            <a:rect r="r" b="b" t="t" l="l"/>
            <a:pathLst>
              <a:path h="11301511" w="10670450">
                <a:moveTo>
                  <a:pt x="0" y="0"/>
                </a:moveTo>
                <a:lnTo>
                  <a:pt x="10670450" y="0"/>
                </a:lnTo>
                <a:lnTo>
                  <a:pt x="10670450" y="11301511"/>
                </a:lnTo>
                <a:lnTo>
                  <a:pt x="0" y="113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2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0100" y="7816596"/>
            <a:ext cx="16687800" cy="1841525"/>
            <a:chOff x="0" y="0"/>
            <a:chExt cx="22250400" cy="24553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50400" cy="2455418"/>
            </a:xfrm>
            <a:custGeom>
              <a:avLst/>
              <a:gdLst/>
              <a:ahLst/>
              <a:cxnLst/>
              <a:rect r="r" b="b" t="t" l="l"/>
              <a:pathLst>
                <a:path h="2455418" w="2225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2021800" y="0"/>
                  </a:lnTo>
                  <a:cubicBezTo>
                    <a:pt x="22148037" y="0"/>
                    <a:pt x="22250400" y="102362"/>
                    <a:pt x="22250400" y="228600"/>
                  </a:cubicBezTo>
                  <a:lnTo>
                    <a:pt x="22250400" y="2226818"/>
                  </a:lnTo>
                  <a:cubicBezTo>
                    <a:pt x="22250400" y="2353056"/>
                    <a:pt x="22148037" y="2455418"/>
                    <a:pt x="22021800" y="2455418"/>
                  </a:cubicBezTo>
                  <a:lnTo>
                    <a:pt x="228600" y="2455418"/>
                  </a:lnTo>
                  <a:cubicBezTo>
                    <a:pt x="102362" y="2455418"/>
                    <a:pt x="0" y="2353056"/>
                    <a:pt x="0" y="2226818"/>
                  </a:cubicBezTo>
                  <a:close/>
                </a:path>
              </a:pathLst>
            </a:custGeom>
            <a:solidFill>
              <a:srgbClr val="E8F5E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00100" y="3372517"/>
            <a:ext cx="3003718" cy="28575"/>
            <a:chOff x="0" y="0"/>
            <a:chExt cx="4004958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04945" cy="38100"/>
            </a:xfrm>
            <a:custGeom>
              <a:avLst/>
              <a:gdLst/>
              <a:ahLst/>
              <a:cxnLst/>
              <a:rect r="r" b="b" t="t" l="l"/>
              <a:pathLst>
                <a:path h="3810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E6C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803818" y="3372517"/>
            <a:ext cx="3003718" cy="28575"/>
            <a:chOff x="0" y="0"/>
            <a:chExt cx="4004958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04945" cy="38100"/>
            </a:xfrm>
            <a:custGeom>
              <a:avLst/>
              <a:gdLst/>
              <a:ahLst/>
              <a:cxnLst/>
              <a:rect r="r" b="b" t="t" l="l"/>
              <a:pathLst>
                <a:path h="3810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E6C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07546" y="3372517"/>
            <a:ext cx="3671221" cy="28575"/>
            <a:chOff x="0" y="0"/>
            <a:chExt cx="4894961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94961" cy="38100"/>
            </a:xfrm>
            <a:custGeom>
              <a:avLst/>
              <a:gdLst/>
              <a:ahLst/>
              <a:cxnLst/>
              <a:rect r="r" b="b" t="t" l="l"/>
              <a:pathLst>
                <a:path h="38100" w="4894961">
                  <a:moveTo>
                    <a:pt x="0" y="0"/>
                  </a:moveTo>
                  <a:lnTo>
                    <a:pt x="4894961" y="0"/>
                  </a:lnTo>
                  <a:lnTo>
                    <a:pt x="489496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E6C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78767" y="3372517"/>
            <a:ext cx="3671221" cy="28575"/>
            <a:chOff x="0" y="0"/>
            <a:chExt cx="4894961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94961" cy="38100"/>
            </a:xfrm>
            <a:custGeom>
              <a:avLst/>
              <a:gdLst/>
              <a:ahLst/>
              <a:cxnLst/>
              <a:rect r="r" b="b" t="t" l="l"/>
              <a:pathLst>
                <a:path h="38100" w="4894961">
                  <a:moveTo>
                    <a:pt x="0" y="0"/>
                  </a:moveTo>
                  <a:lnTo>
                    <a:pt x="4894961" y="0"/>
                  </a:lnTo>
                  <a:lnTo>
                    <a:pt x="489496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E6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49978" y="3372517"/>
            <a:ext cx="3337912" cy="28575"/>
            <a:chOff x="0" y="0"/>
            <a:chExt cx="445055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50588" cy="38100"/>
            </a:xfrm>
            <a:custGeom>
              <a:avLst/>
              <a:gdLst/>
              <a:ahLst/>
              <a:cxnLst/>
              <a:rect r="r" b="b" t="t" l="l"/>
              <a:pathLst>
                <a:path h="38100" w="4450588">
                  <a:moveTo>
                    <a:pt x="0" y="0"/>
                  </a:moveTo>
                  <a:lnTo>
                    <a:pt x="4450588" y="0"/>
                  </a:lnTo>
                  <a:lnTo>
                    <a:pt x="445058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E6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5875" y="8130921"/>
            <a:ext cx="1450181" cy="471488"/>
            <a:chOff x="0" y="0"/>
            <a:chExt cx="1933575" cy="628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3575" cy="628650"/>
            </a:xfrm>
            <a:custGeom>
              <a:avLst/>
              <a:gdLst/>
              <a:ahLst/>
              <a:cxnLst/>
              <a:rect r="r" b="b" t="t" l="l"/>
              <a:pathLst>
                <a:path h="628650" w="1933575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819275" y="0"/>
                  </a:lnTo>
                  <a:cubicBezTo>
                    <a:pt x="1882394" y="0"/>
                    <a:pt x="1933575" y="51181"/>
                    <a:pt x="1933575" y="114300"/>
                  </a:cubicBezTo>
                  <a:lnTo>
                    <a:pt x="1933575" y="514350"/>
                  </a:lnTo>
                  <a:cubicBezTo>
                    <a:pt x="1933575" y="577469"/>
                    <a:pt x="1882394" y="628650"/>
                    <a:pt x="1819275" y="628650"/>
                  </a:cubicBezTo>
                  <a:lnTo>
                    <a:pt x="114300" y="628650"/>
                  </a:lnTo>
                  <a:cubicBezTo>
                    <a:pt x="51181" y="628650"/>
                    <a:pt x="0" y="577469"/>
                    <a:pt x="0" y="514350"/>
                  </a:cubicBez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0100" y="7816596"/>
            <a:ext cx="85725" cy="1841525"/>
            <a:chOff x="0" y="0"/>
            <a:chExt cx="114300" cy="24553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300" cy="2455418"/>
            </a:xfrm>
            <a:custGeom>
              <a:avLst/>
              <a:gdLst/>
              <a:ahLst/>
              <a:cxnLst/>
              <a:rect r="r" b="b" t="t" l="l"/>
              <a:pathLst>
                <a:path h="2455418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455418"/>
                  </a:lnTo>
                  <a:lnTo>
                    <a:pt x="0" y="2455418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00100" y="4429792"/>
            <a:ext cx="3003718" cy="14288"/>
            <a:chOff x="0" y="0"/>
            <a:chExt cx="4004958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04945" cy="19050"/>
            </a:xfrm>
            <a:custGeom>
              <a:avLst/>
              <a:gdLst/>
              <a:ahLst/>
              <a:cxnLst/>
              <a:rect r="r" b="b" t="t" l="l"/>
              <a:pathLst>
                <a:path h="1905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803818" y="4429792"/>
            <a:ext cx="3003718" cy="14288"/>
            <a:chOff x="0" y="0"/>
            <a:chExt cx="4004958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04945" cy="19050"/>
            </a:xfrm>
            <a:custGeom>
              <a:avLst/>
              <a:gdLst/>
              <a:ahLst/>
              <a:cxnLst/>
              <a:rect r="r" b="b" t="t" l="l"/>
              <a:pathLst>
                <a:path h="1905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07546" y="4429792"/>
            <a:ext cx="3671221" cy="14288"/>
            <a:chOff x="0" y="0"/>
            <a:chExt cx="4894961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94961" cy="19050"/>
            </a:xfrm>
            <a:custGeom>
              <a:avLst/>
              <a:gdLst/>
              <a:ahLst/>
              <a:cxnLst/>
              <a:rect r="r" b="b" t="t" l="l"/>
              <a:pathLst>
                <a:path h="19050" w="4894961">
                  <a:moveTo>
                    <a:pt x="0" y="0"/>
                  </a:moveTo>
                  <a:lnTo>
                    <a:pt x="4894961" y="0"/>
                  </a:lnTo>
                  <a:lnTo>
                    <a:pt x="48949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78767" y="4429792"/>
            <a:ext cx="3671221" cy="14288"/>
            <a:chOff x="0" y="0"/>
            <a:chExt cx="4894961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94961" cy="19050"/>
            </a:xfrm>
            <a:custGeom>
              <a:avLst/>
              <a:gdLst/>
              <a:ahLst/>
              <a:cxnLst/>
              <a:rect r="r" b="b" t="t" l="l"/>
              <a:pathLst>
                <a:path h="19050" w="4894961">
                  <a:moveTo>
                    <a:pt x="0" y="0"/>
                  </a:moveTo>
                  <a:lnTo>
                    <a:pt x="4894961" y="0"/>
                  </a:lnTo>
                  <a:lnTo>
                    <a:pt x="48949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149978" y="4429792"/>
            <a:ext cx="3337912" cy="14288"/>
            <a:chOff x="0" y="0"/>
            <a:chExt cx="4450550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50588" cy="19050"/>
            </a:xfrm>
            <a:custGeom>
              <a:avLst/>
              <a:gdLst/>
              <a:ahLst/>
              <a:cxnLst/>
              <a:rect r="r" b="b" t="t" l="l"/>
              <a:pathLst>
                <a:path h="19050" w="4450588">
                  <a:moveTo>
                    <a:pt x="0" y="0"/>
                  </a:moveTo>
                  <a:lnTo>
                    <a:pt x="4450588" y="0"/>
                  </a:lnTo>
                  <a:lnTo>
                    <a:pt x="44505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00100" y="5472779"/>
            <a:ext cx="3003718" cy="14288"/>
            <a:chOff x="0" y="0"/>
            <a:chExt cx="4004958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04945" cy="19050"/>
            </a:xfrm>
            <a:custGeom>
              <a:avLst/>
              <a:gdLst/>
              <a:ahLst/>
              <a:cxnLst/>
              <a:rect r="r" b="b" t="t" l="l"/>
              <a:pathLst>
                <a:path h="1905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803818" y="5472779"/>
            <a:ext cx="3003718" cy="14288"/>
            <a:chOff x="0" y="0"/>
            <a:chExt cx="4004958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04945" cy="19050"/>
            </a:xfrm>
            <a:custGeom>
              <a:avLst/>
              <a:gdLst/>
              <a:ahLst/>
              <a:cxnLst/>
              <a:rect r="r" b="b" t="t" l="l"/>
              <a:pathLst>
                <a:path h="19050" w="4004945">
                  <a:moveTo>
                    <a:pt x="0" y="0"/>
                  </a:moveTo>
                  <a:lnTo>
                    <a:pt x="4004945" y="0"/>
                  </a:lnTo>
                  <a:lnTo>
                    <a:pt x="400494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07546" y="5472779"/>
            <a:ext cx="3671221" cy="14288"/>
            <a:chOff x="0" y="0"/>
            <a:chExt cx="4894961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94961" cy="19050"/>
            </a:xfrm>
            <a:custGeom>
              <a:avLst/>
              <a:gdLst/>
              <a:ahLst/>
              <a:cxnLst/>
              <a:rect r="r" b="b" t="t" l="l"/>
              <a:pathLst>
                <a:path h="19050" w="4894961">
                  <a:moveTo>
                    <a:pt x="0" y="0"/>
                  </a:moveTo>
                  <a:lnTo>
                    <a:pt x="4894961" y="0"/>
                  </a:lnTo>
                  <a:lnTo>
                    <a:pt x="48949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78767" y="5472779"/>
            <a:ext cx="3671221" cy="14288"/>
            <a:chOff x="0" y="0"/>
            <a:chExt cx="4894961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94961" cy="19050"/>
            </a:xfrm>
            <a:custGeom>
              <a:avLst/>
              <a:gdLst/>
              <a:ahLst/>
              <a:cxnLst/>
              <a:rect r="r" b="b" t="t" l="l"/>
              <a:pathLst>
                <a:path h="19050" w="4894961">
                  <a:moveTo>
                    <a:pt x="0" y="0"/>
                  </a:moveTo>
                  <a:lnTo>
                    <a:pt x="4894961" y="0"/>
                  </a:lnTo>
                  <a:lnTo>
                    <a:pt x="48949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149978" y="5472779"/>
            <a:ext cx="3337912" cy="14288"/>
            <a:chOff x="0" y="0"/>
            <a:chExt cx="4450550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50588" cy="19050"/>
            </a:xfrm>
            <a:custGeom>
              <a:avLst/>
              <a:gdLst/>
              <a:ahLst/>
              <a:cxnLst/>
              <a:rect r="r" b="b" t="t" l="l"/>
              <a:pathLst>
                <a:path h="19050" w="4450588">
                  <a:moveTo>
                    <a:pt x="0" y="0"/>
                  </a:moveTo>
                  <a:lnTo>
                    <a:pt x="4450588" y="0"/>
                  </a:lnTo>
                  <a:lnTo>
                    <a:pt x="445058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57275" y="3944017"/>
            <a:ext cx="840286" cy="271462"/>
            <a:chOff x="0" y="0"/>
            <a:chExt cx="1120381" cy="3619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0394" cy="361950"/>
            </a:xfrm>
            <a:custGeom>
              <a:avLst/>
              <a:gdLst/>
              <a:ahLst/>
              <a:cxnLst/>
              <a:rect r="r" b="b" t="t" l="l"/>
              <a:pathLst>
                <a:path h="361950" w="11203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44194" y="0"/>
                  </a:lnTo>
                  <a:cubicBezTo>
                    <a:pt x="1086231" y="0"/>
                    <a:pt x="1120394" y="34163"/>
                    <a:pt x="1120394" y="76200"/>
                  </a:cubicBezTo>
                  <a:lnTo>
                    <a:pt x="1120394" y="285750"/>
                  </a:lnTo>
                  <a:cubicBezTo>
                    <a:pt x="1120394" y="327787"/>
                    <a:pt x="1086231" y="361950"/>
                    <a:pt x="1044194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57275" y="4987004"/>
            <a:ext cx="1509112" cy="271462"/>
            <a:chOff x="0" y="0"/>
            <a:chExt cx="2012150" cy="3619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2188" cy="361950"/>
            </a:xfrm>
            <a:custGeom>
              <a:avLst/>
              <a:gdLst/>
              <a:ahLst/>
              <a:cxnLst/>
              <a:rect r="r" b="b" t="t" l="l"/>
              <a:pathLst>
                <a:path h="361950" w="201218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35988" y="0"/>
                  </a:lnTo>
                  <a:cubicBezTo>
                    <a:pt x="1978025" y="0"/>
                    <a:pt x="2012188" y="34163"/>
                    <a:pt x="2012188" y="76200"/>
                  </a:cubicBezTo>
                  <a:lnTo>
                    <a:pt x="2012188" y="285750"/>
                  </a:lnTo>
                  <a:cubicBezTo>
                    <a:pt x="2012188" y="327787"/>
                    <a:pt x="1978025" y="361950"/>
                    <a:pt x="1935988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57275" y="6029992"/>
            <a:ext cx="1509112" cy="271462"/>
            <a:chOff x="0" y="0"/>
            <a:chExt cx="2012150" cy="3619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2188" cy="361950"/>
            </a:xfrm>
            <a:custGeom>
              <a:avLst/>
              <a:gdLst/>
              <a:ahLst/>
              <a:cxnLst/>
              <a:rect r="r" b="b" t="t" l="l"/>
              <a:pathLst>
                <a:path h="361950" w="201218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35988" y="0"/>
                  </a:lnTo>
                  <a:cubicBezTo>
                    <a:pt x="1978025" y="0"/>
                    <a:pt x="2012188" y="34163"/>
                    <a:pt x="2012188" y="76200"/>
                  </a:cubicBezTo>
                  <a:lnTo>
                    <a:pt x="2012188" y="285750"/>
                  </a:lnTo>
                  <a:cubicBezTo>
                    <a:pt x="2012188" y="327787"/>
                    <a:pt x="1978025" y="361950"/>
                    <a:pt x="1935988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E0F2F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57275" y="5729954"/>
            <a:ext cx="157162" cy="214312"/>
            <a:chOff x="0" y="0"/>
            <a:chExt cx="209550" cy="2857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095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33" r="0" b="-333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57275" y="4686967"/>
            <a:ext cx="271462" cy="214312"/>
            <a:chOff x="0" y="0"/>
            <a:chExt cx="361950" cy="28575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33" r="0" b="-333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57275" y="3643979"/>
            <a:ext cx="242888" cy="214312"/>
            <a:chOff x="0" y="0"/>
            <a:chExt cx="323850" cy="28575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23850" cy="285750"/>
            </a:xfrm>
            <a:custGeom>
              <a:avLst/>
              <a:gdLst/>
              <a:ahLst/>
              <a:cxnLst/>
              <a:rect r="r" b="b" t="t" l="l"/>
              <a:pathLst>
                <a:path h="2857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333" r="0" b="-333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57275" y="3643979"/>
            <a:ext cx="242888" cy="214312"/>
            <a:chOff x="0" y="0"/>
            <a:chExt cx="323850" cy="28575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23850" cy="285750"/>
            </a:xfrm>
            <a:custGeom>
              <a:avLst/>
              <a:gdLst/>
              <a:ahLst/>
              <a:cxnLst/>
              <a:rect r="r" b="b" t="t" l="l"/>
              <a:pathLst>
                <a:path h="2857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333" r="0" b="-3333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57275" y="4686967"/>
            <a:ext cx="271462" cy="214312"/>
            <a:chOff x="0" y="0"/>
            <a:chExt cx="361950" cy="28575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33" r="0" b="-3333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57275" y="5729954"/>
            <a:ext cx="157162" cy="214312"/>
            <a:chOff x="0" y="0"/>
            <a:chExt cx="209550" cy="28575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2095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33" r="0" b="-333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92956" y="2693860"/>
            <a:ext cx="16702088" cy="3829050"/>
            <a:chOff x="0" y="0"/>
            <a:chExt cx="22269450" cy="510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269450" cy="5105400"/>
            </a:xfrm>
            <a:custGeom>
              <a:avLst/>
              <a:gdLst/>
              <a:ahLst/>
              <a:cxnLst/>
              <a:rect r="r" b="b" t="t" l="l"/>
              <a:pathLst>
                <a:path h="5105400" w="22269450">
                  <a:moveTo>
                    <a:pt x="0" y="0"/>
                  </a:moveTo>
                  <a:lnTo>
                    <a:pt x="22269450" y="0"/>
                  </a:lnTo>
                  <a:lnTo>
                    <a:pt x="22269450" y="5105400"/>
                  </a:lnTo>
                  <a:lnTo>
                    <a:pt x="0" y="510540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59" id="59"/>
          <p:cNvGraphicFramePr>
            <a:graphicFrameLocks noGrp="true"/>
          </p:cNvGraphicFramePr>
          <p:nvPr/>
        </p:nvGraphicFramePr>
        <p:xfrm>
          <a:off x="800100" y="2701006"/>
          <a:ext cx="16630650" cy="4042171"/>
        </p:xfrm>
        <a:graphic>
          <a:graphicData uri="http://schemas.openxmlformats.org/drawingml/2006/table">
            <a:tbl>
              <a:tblPr/>
              <a:tblGrid>
                <a:gridCol w="2993437"/>
                <a:gridCol w="2993437"/>
                <a:gridCol w="3658645"/>
                <a:gridCol w="3658645"/>
                <a:gridCol w="3326486"/>
              </a:tblGrid>
              <a:tr h="9524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Regime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Espaço de Ref.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 que Rastreia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Contra o que Registra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 que Provará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029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1. Janela</a:t>
                      </a:r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viewer</a:t>
                      </a: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(Câmera virtual)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Nada do corpo;</a:t>
                      </a: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Cursor e mouse/teclado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Viewport 2D padrão do navegador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Execução imediata</a:t>
                      </a: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sem depender de hardware XR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9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2. Visor</a:t>
                      </a:r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local-floor</a:t>
                      </a: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(Origem no chão)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Pose da cabeça e das 2 mãos (6 DoF)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Chão virtual e matrizes dos sockets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Montagem 1:1</a:t>
                      </a: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com agarrar/encaixar bimanual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99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3. Câmera</a:t>
                      </a:r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local-floor</a:t>
                      </a:r>
                      <a:endParaRPr lang="en-US" sz="1100"/>
                    </a:p>
                    <a:p>
                      <a:pPr algn="l">
                        <a:lnSpc>
                          <a:spcPts val="2025"/>
                        </a:lnSpc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(Superfícies)</a:t>
                      </a:r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Pose da cabeça, mãos e superfícies físicas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Estimativa de plano do mundo real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Ancoragem estável</a:t>
                      </a:r>
                      <a:r>
                        <a:rPr lang="en-US" sz="1687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da bateria no chão/mesa real</a:t>
                      </a:r>
                      <a:endParaRPr lang="en-US" sz="1100"/>
                    </a:p>
                  </a:txBody>
                  <a:tcPr marL="78502" marR="78502" marT="78502" marB="7850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0" id="60"/>
          <p:cNvSpPr txBox="true"/>
          <p:nvPr/>
        </p:nvSpPr>
        <p:spPr>
          <a:xfrm rot="0">
            <a:off x="800100" y="600075"/>
            <a:ext cx="52319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OS TRÊS REGIMES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14475" y="8197596"/>
            <a:ext cx="1135856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POR QUÊ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078956" y="8111871"/>
            <a:ext cx="8469811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O que cada um tem de provar: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078956" y="8411909"/>
            <a:ext cx="6918722" cy="91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1575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Janela</a:t>
            </a: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provará a lógica de hierarquia e laço em qualquer máquina. O </a:t>
            </a:r>
            <a:r>
              <a:rPr lang="en-US" sz="1575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Visor</a:t>
            </a: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provará o encaixe físico bimanual 6 DoF. A </a:t>
            </a:r>
            <a:r>
              <a:rPr lang="en-US" sz="1575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Câmera</a:t>
            </a: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provará a estabilidade do suporte sobre piso real.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12003" y="8111871"/>
            <a:ext cx="7975997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Realidade vs. Promessa atual: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12003" y="8411909"/>
            <a:ext cx="6918722" cy="93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Apenas o regime </a:t>
            </a:r>
            <a:r>
              <a:rPr lang="en-US" sz="1575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Janela</a:t>
            </a: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roda hoje sem hardware; </a:t>
            </a:r>
            <a:r>
              <a:rPr lang="en-US" sz="1575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Visor</a:t>
            </a: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1575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Câmera</a:t>
            </a:r>
            <a:r>
              <a:rPr lang="en-US" sz="1575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estão declarados no código em regimes.ts para garantir a arquitetura, mas sua execução é promessa para os módulos seguintes.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78719" y="4191667"/>
            <a:ext cx="1097461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0369A1"/>
                </a:solidFill>
                <a:latin typeface="Arimo"/>
                <a:ea typeface="Arimo"/>
                <a:cs typeface="Arimo"/>
                <a:sym typeface="Arimo"/>
              </a:rPr>
              <a:t>inline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8719" y="5239417"/>
            <a:ext cx="1766287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0369A1"/>
                </a:solidFill>
                <a:latin typeface="Arimo"/>
                <a:ea typeface="Arimo"/>
                <a:cs typeface="Arimo"/>
                <a:sym typeface="Arimo"/>
              </a:rPr>
              <a:t>immersive-vr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78719" y="6282404"/>
            <a:ext cx="1766287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0369A1"/>
                </a:solidFill>
                <a:latin typeface="Arimo"/>
                <a:ea typeface="Arimo"/>
                <a:cs typeface="Arimo"/>
                <a:sym typeface="Arimo"/>
              </a:rPr>
              <a:t>immersive-ar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585912"/>
            <a:ext cx="9729121" cy="3670992"/>
            <a:chOff x="0" y="0"/>
            <a:chExt cx="12972161" cy="48946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72161" cy="4894707"/>
            </a:xfrm>
            <a:custGeom>
              <a:avLst/>
              <a:gdLst/>
              <a:ahLst/>
              <a:cxnLst/>
              <a:rect r="r" b="b" t="t" l="l"/>
              <a:pathLst>
                <a:path h="4894707" w="1297216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743561" y="0"/>
                  </a:lnTo>
                  <a:cubicBezTo>
                    <a:pt x="12869799" y="0"/>
                    <a:pt x="12972161" y="102362"/>
                    <a:pt x="12972161" y="228600"/>
                  </a:cubicBezTo>
                  <a:lnTo>
                    <a:pt x="12972161" y="4666107"/>
                  </a:lnTo>
                  <a:cubicBezTo>
                    <a:pt x="12972161" y="4792345"/>
                    <a:pt x="12869799" y="4894707"/>
                    <a:pt x="12743561" y="4894707"/>
                  </a:cubicBezTo>
                  <a:lnTo>
                    <a:pt x="228600" y="4894707"/>
                  </a:lnTo>
                  <a:cubicBezTo>
                    <a:pt x="102362" y="4894707"/>
                    <a:pt x="0" y="4792345"/>
                    <a:pt x="0" y="466610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485505"/>
            <a:ext cx="9729121" cy="2414588"/>
            <a:chOff x="0" y="0"/>
            <a:chExt cx="12972161" cy="3219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72161" cy="3219450"/>
            </a:xfrm>
            <a:custGeom>
              <a:avLst/>
              <a:gdLst/>
              <a:ahLst/>
              <a:cxnLst/>
              <a:rect r="r" b="b" t="t" l="l"/>
              <a:pathLst>
                <a:path h="3219450" w="1297216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743561" y="0"/>
                  </a:lnTo>
                  <a:cubicBezTo>
                    <a:pt x="12869799" y="0"/>
                    <a:pt x="12972161" y="102362"/>
                    <a:pt x="12972161" y="228600"/>
                  </a:cubicBezTo>
                  <a:lnTo>
                    <a:pt x="12972161" y="2990850"/>
                  </a:lnTo>
                  <a:cubicBezTo>
                    <a:pt x="12972161" y="3117088"/>
                    <a:pt x="12869799" y="3219450"/>
                    <a:pt x="12743561" y="3219450"/>
                  </a:cubicBezTo>
                  <a:lnTo>
                    <a:pt x="228600" y="3219450"/>
                  </a:lnTo>
                  <a:cubicBezTo>
                    <a:pt x="102362" y="3219450"/>
                    <a:pt x="0" y="3117088"/>
                    <a:pt x="0" y="299085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872121" y="1585912"/>
            <a:ext cx="6762489" cy="5671242"/>
            <a:chOff x="0" y="0"/>
            <a:chExt cx="6870032" cy="5761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70033" cy="5761431"/>
            </a:xfrm>
            <a:custGeom>
              <a:avLst/>
              <a:gdLst/>
              <a:ahLst/>
              <a:cxnLst/>
              <a:rect r="r" b="b" t="t" l="l"/>
              <a:pathLst>
                <a:path h="5761431" w="6870033">
                  <a:moveTo>
                    <a:pt x="0" y="121506"/>
                  </a:moveTo>
                  <a:cubicBezTo>
                    <a:pt x="0" y="54408"/>
                    <a:pt x="79722" y="0"/>
                    <a:pt x="178039" y="0"/>
                  </a:cubicBezTo>
                  <a:lnTo>
                    <a:pt x="6691993" y="0"/>
                  </a:lnTo>
                  <a:cubicBezTo>
                    <a:pt x="6790310" y="0"/>
                    <a:pt x="6870033" y="54408"/>
                    <a:pt x="6870033" y="121506"/>
                  </a:cubicBezTo>
                  <a:lnTo>
                    <a:pt x="6870033" y="5639925"/>
                  </a:lnTo>
                  <a:cubicBezTo>
                    <a:pt x="6870033" y="5707023"/>
                    <a:pt x="6790310" y="5761431"/>
                    <a:pt x="6691993" y="5761431"/>
                  </a:cubicBezTo>
                  <a:lnTo>
                    <a:pt x="178039" y="5761431"/>
                  </a:lnTo>
                  <a:cubicBezTo>
                    <a:pt x="79722" y="5761431"/>
                    <a:pt x="0" y="5707023"/>
                    <a:pt x="0" y="563992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1585912"/>
            <a:ext cx="71438" cy="3670992"/>
            <a:chOff x="0" y="0"/>
            <a:chExt cx="95250" cy="48946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50" cy="4894707"/>
            </a:xfrm>
            <a:custGeom>
              <a:avLst/>
              <a:gdLst/>
              <a:ahLst/>
              <a:cxnLst/>
              <a:rect r="r" b="b" t="t" l="l"/>
              <a:pathLst>
                <a:path h="4894707" w="95250">
                  <a:moveTo>
                    <a:pt x="0" y="0"/>
                  </a:moveTo>
                  <a:lnTo>
                    <a:pt x="95250" y="0"/>
                  </a:lnTo>
                  <a:lnTo>
                    <a:pt x="95250" y="4894707"/>
                  </a:lnTo>
                  <a:lnTo>
                    <a:pt x="0" y="4894707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5862" y="2286000"/>
            <a:ext cx="2770759" cy="1419816"/>
            <a:chOff x="0" y="0"/>
            <a:chExt cx="3694345" cy="1893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94345" cy="1893062"/>
            </a:xfrm>
            <a:custGeom>
              <a:avLst/>
              <a:gdLst/>
              <a:ahLst/>
              <a:cxnLst/>
              <a:rect r="r" b="b" t="t" l="l"/>
              <a:pathLst>
                <a:path h="1893062" w="3694345">
                  <a:moveTo>
                    <a:pt x="0" y="152400"/>
                  </a:moveTo>
                  <a:cubicBezTo>
                    <a:pt x="0" y="68199"/>
                    <a:pt x="20928" y="0"/>
                    <a:pt x="46767" y="0"/>
                  </a:cubicBezTo>
                  <a:lnTo>
                    <a:pt x="3647578" y="0"/>
                  </a:lnTo>
                  <a:cubicBezTo>
                    <a:pt x="3673417" y="0"/>
                    <a:pt x="3694345" y="68199"/>
                    <a:pt x="3694345" y="152400"/>
                  </a:cubicBezTo>
                  <a:lnTo>
                    <a:pt x="3694345" y="1740662"/>
                  </a:lnTo>
                  <a:cubicBezTo>
                    <a:pt x="3694345" y="1824863"/>
                    <a:pt x="3673417" y="1893062"/>
                    <a:pt x="3647578" y="1893062"/>
                  </a:cubicBezTo>
                  <a:lnTo>
                    <a:pt x="46767" y="1893062"/>
                  </a:lnTo>
                  <a:cubicBezTo>
                    <a:pt x="20928" y="1893062"/>
                    <a:pt x="0" y="1824863"/>
                    <a:pt x="0" y="1740662"/>
                  </a:cubicBezTo>
                  <a:close/>
                </a:path>
              </a:pathLst>
            </a:custGeom>
            <a:solidFill>
              <a:srgbClr val="1A2E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0100" y="5485505"/>
            <a:ext cx="71438" cy="2414588"/>
            <a:chOff x="0" y="0"/>
            <a:chExt cx="95250" cy="3219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50" cy="3219450"/>
            </a:xfrm>
            <a:custGeom>
              <a:avLst/>
              <a:gdLst/>
              <a:ahLst/>
              <a:cxnLst/>
              <a:rect r="r" b="b" t="t" l="l"/>
              <a:pathLst>
                <a:path h="3219450" w="95250">
                  <a:moveTo>
                    <a:pt x="0" y="0"/>
                  </a:moveTo>
                  <a:lnTo>
                    <a:pt x="95250" y="0"/>
                  </a:lnTo>
                  <a:lnTo>
                    <a:pt x="9525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5862" y="6628505"/>
            <a:ext cx="4292279" cy="28575"/>
            <a:chOff x="0" y="0"/>
            <a:chExt cx="5723039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23001" cy="38100"/>
            </a:xfrm>
            <a:custGeom>
              <a:avLst/>
              <a:gdLst/>
              <a:ahLst/>
              <a:cxnLst/>
              <a:rect r="r" b="b" t="t" l="l"/>
              <a:pathLst>
                <a:path h="38100" w="5723001">
                  <a:moveTo>
                    <a:pt x="0" y="0"/>
                  </a:moveTo>
                  <a:lnTo>
                    <a:pt x="5723001" y="0"/>
                  </a:lnTo>
                  <a:lnTo>
                    <a:pt x="572300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78142" y="6628505"/>
            <a:ext cx="2067220" cy="28575"/>
            <a:chOff x="0" y="0"/>
            <a:chExt cx="2756294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56281" cy="38100"/>
            </a:xfrm>
            <a:custGeom>
              <a:avLst/>
              <a:gdLst/>
              <a:ahLst/>
              <a:cxnLst/>
              <a:rect r="r" b="b" t="t" l="l"/>
              <a:pathLst>
                <a:path h="38100" w="2756281">
                  <a:moveTo>
                    <a:pt x="0" y="0"/>
                  </a:moveTo>
                  <a:lnTo>
                    <a:pt x="2756281" y="0"/>
                  </a:lnTo>
                  <a:lnTo>
                    <a:pt x="275628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5362" y="6628505"/>
            <a:ext cx="2669534" cy="28575"/>
            <a:chOff x="0" y="0"/>
            <a:chExt cx="3559378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9429" cy="38100"/>
            </a:xfrm>
            <a:custGeom>
              <a:avLst/>
              <a:gdLst/>
              <a:ahLst/>
              <a:cxnLst/>
              <a:rect r="r" b="b" t="t" l="l"/>
              <a:pathLst>
                <a:path h="38100" w="3559429">
                  <a:moveTo>
                    <a:pt x="0" y="0"/>
                  </a:moveTo>
                  <a:lnTo>
                    <a:pt x="3559429" y="0"/>
                  </a:lnTo>
                  <a:lnTo>
                    <a:pt x="355942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81653" y="1998452"/>
            <a:ext cx="1496944" cy="487547"/>
            <a:chOff x="0" y="0"/>
            <a:chExt cx="1520750" cy="495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0750" cy="495300"/>
            </a:xfrm>
            <a:custGeom>
              <a:avLst/>
              <a:gdLst/>
              <a:ahLst/>
              <a:cxnLst/>
              <a:rect r="r" b="b" t="t" l="l"/>
              <a:pathLst>
                <a:path h="495300" w="1520750">
                  <a:moveTo>
                    <a:pt x="0" y="76200"/>
                  </a:moveTo>
                  <a:cubicBezTo>
                    <a:pt x="0" y="34163"/>
                    <a:pt x="34090" y="0"/>
                    <a:pt x="76038" y="0"/>
                  </a:cubicBezTo>
                  <a:lnTo>
                    <a:pt x="1444713" y="0"/>
                  </a:lnTo>
                  <a:cubicBezTo>
                    <a:pt x="1486660" y="0"/>
                    <a:pt x="1520750" y="34163"/>
                    <a:pt x="1520750" y="76200"/>
                  </a:cubicBezTo>
                  <a:lnTo>
                    <a:pt x="1520750" y="419100"/>
                  </a:lnTo>
                  <a:cubicBezTo>
                    <a:pt x="1520750" y="461137"/>
                    <a:pt x="1486660" y="495300"/>
                    <a:pt x="1444713" y="495300"/>
                  </a:cubicBezTo>
                  <a:lnTo>
                    <a:pt x="76038" y="495300"/>
                  </a:lnTo>
                  <a:cubicBezTo>
                    <a:pt x="34090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5862" y="3877266"/>
            <a:ext cx="1360437" cy="288427"/>
            <a:chOff x="0" y="0"/>
            <a:chExt cx="1813916" cy="3845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13941" cy="384556"/>
            </a:xfrm>
            <a:custGeom>
              <a:avLst/>
              <a:gdLst/>
              <a:ahLst/>
              <a:cxnLst/>
              <a:rect r="r" b="b" t="t" l="l"/>
              <a:pathLst>
                <a:path h="384556" w="181394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737741" y="0"/>
                  </a:lnTo>
                  <a:cubicBezTo>
                    <a:pt x="1779778" y="0"/>
                    <a:pt x="1813941" y="34163"/>
                    <a:pt x="1813941" y="76200"/>
                  </a:cubicBezTo>
                  <a:lnTo>
                    <a:pt x="1813941" y="308356"/>
                  </a:lnTo>
                  <a:cubicBezTo>
                    <a:pt x="1813941" y="350393"/>
                    <a:pt x="1779778" y="384556"/>
                    <a:pt x="1737741" y="384556"/>
                  </a:cubicBezTo>
                  <a:lnTo>
                    <a:pt x="76200" y="384556"/>
                  </a:lnTo>
                  <a:cubicBezTo>
                    <a:pt x="34163" y="384556"/>
                    <a:pt x="0" y="350393"/>
                    <a:pt x="0" y="308356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5862" y="4280002"/>
            <a:ext cx="1051693" cy="288427"/>
            <a:chOff x="0" y="0"/>
            <a:chExt cx="1402258" cy="3845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02207" cy="384556"/>
            </a:xfrm>
            <a:custGeom>
              <a:avLst/>
              <a:gdLst/>
              <a:ahLst/>
              <a:cxnLst/>
              <a:rect r="r" b="b" t="t" l="l"/>
              <a:pathLst>
                <a:path h="384556" w="1402207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326007" y="0"/>
                  </a:lnTo>
                  <a:cubicBezTo>
                    <a:pt x="1368044" y="0"/>
                    <a:pt x="1402207" y="34163"/>
                    <a:pt x="1402207" y="76200"/>
                  </a:cubicBezTo>
                  <a:lnTo>
                    <a:pt x="1402207" y="308356"/>
                  </a:lnTo>
                  <a:cubicBezTo>
                    <a:pt x="1402207" y="350393"/>
                    <a:pt x="1368044" y="384556"/>
                    <a:pt x="1326007" y="384556"/>
                  </a:cubicBezTo>
                  <a:lnTo>
                    <a:pt x="76200" y="384556"/>
                  </a:lnTo>
                  <a:cubicBezTo>
                    <a:pt x="34163" y="384556"/>
                    <a:pt x="0" y="350393"/>
                    <a:pt x="0" y="308356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5862" y="4682728"/>
            <a:ext cx="1772098" cy="288427"/>
            <a:chOff x="0" y="0"/>
            <a:chExt cx="2362797" cy="3845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62835" cy="384556"/>
            </a:xfrm>
            <a:custGeom>
              <a:avLst/>
              <a:gdLst/>
              <a:ahLst/>
              <a:cxnLst/>
              <a:rect r="r" b="b" t="t" l="l"/>
              <a:pathLst>
                <a:path h="384556" w="236283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286635" y="0"/>
                  </a:lnTo>
                  <a:cubicBezTo>
                    <a:pt x="2328672" y="0"/>
                    <a:pt x="2362835" y="34163"/>
                    <a:pt x="2362835" y="76200"/>
                  </a:cubicBezTo>
                  <a:lnTo>
                    <a:pt x="2362835" y="308356"/>
                  </a:lnTo>
                  <a:cubicBezTo>
                    <a:pt x="2362835" y="350393"/>
                    <a:pt x="2328672" y="384556"/>
                    <a:pt x="2286635" y="384556"/>
                  </a:cubicBezTo>
                  <a:lnTo>
                    <a:pt x="76200" y="384556"/>
                  </a:lnTo>
                  <a:cubicBezTo>
                    <a:pt x="34163" y="384556"/>
                    <a:pt x="0" y="350393"/>
                    <a:pt x="0" y="308356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5862" y="7121423"/>
            <a:ext cx="4292279" cy="14288"/>
            <a:chOff x="0" y="0"/>
            <a:chExt cx="5723039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23001" cy="19050"/>
            </a:xfrm>
            <a:custGeom>
              <a:avLst/>
              <a:gdLst/>
              <a:ahLst/>
              <a:cxnLst/>
              <a:rect r="r" b="b" t="t" l="l"/>
              <a:pathLst>
                <a:path h="19050" w="5723001">
                  <a:moveTo>
                    <a:pt x="0" y="0"/>
                  </a:moveTo>
                  <a:lnTo>
                    <a:pt x="5723001" y="0"/>
                  </a:lnTo>
                  <a:lnTo>
                    <a:pt x="57230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78142" y="7121423"/>
            <a:ext cx="2067220" cy="14288"/>
            <a:chOff x="0" y="0"/>
            <a:chExt cx="2756294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56281" cy="19050"/>
            </a:xfrm>
            <a:custGeom>
              <a:avLst/>
              <a:gdLst/>
              <a:ahLst/>
              <a:cxnLst/>
              <a:rect r="r" b="b" t="t" l="l"/>
              <a:pathLst>
                <a:path h="19050" w="2756281">
                  <a:moveTo>
                    <a:pt x="0" y="0"/>
                  </a:moveTo>
                  <a:lnTo>
                    <a:pt x="2756281" y="0"/>
                  </a:lnTo>
                  <a:lnTo>
                    <a:pt x="275628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545362" y="7121423"/>
            <a:ext cx="2669534" cy="14288"/>
            <a:chOff x="0" y="0"/>
            <a:chExt cx="3559378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59429" cy="19050"/>
            </a:xfrm>
            <a:custGeom>
              <a:avLst/>
              <a:gdLst/>
              <a:ahLst/>
              <a:cxnLst/>
              <a:rect r="r" b="b" t="t" l="l"/>
              <a:pathLst>
                <a:path h="19050" w="3559429">
                  <a:moveTo>
                    <a:pt x="0" y="0"/>
                  </a:moveTo>
                  <a:lnTo>
                    <a:pt x="3559429" y="0"/>
                  </a:lnTo>
                  <a:lnTo>
                    <a:pt x="35594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5862" y="7592911"/>
            <a:ext cx="4292279" cy="14288"/>
            <a:chOff x="0" y="0"/>
            <a:chExt cx="5723039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23001" cy="19050"/>
            </a:xfrm>
            <a:custGeom>
              <a:avLst/>
              <a:gdLst/>
              <a:ahLst/>
              <a:cxnLst/>
              <a:rect r="r" b="b" t="t" l="l"/>
              <a:pathLst>
                <a:path h="19050" w="5723001">
                  <a:moveTo>
                    <a:pt x="0" y="0"/>
                  </a:moveTo>
                  <a:lnTo>
                    <a:pt x="5723001" y="0"/>
                  </a:lnTo>
                  <a:lnTo>
                    <a:pt x="57230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78142" y="7592911"/>
            <a:ext cx="2067220" cy="14288"/>
            <a:chOff x="0" y="0"/>
            <a:chExt cx="2756294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56281" cy="19050"/>
            </a:xfrm>
            <a:custGeom>
              <a:avLst/>
              <a:gdLst/>
              <a:ahLst/>
              <a:cxnLst/>
              <a:rect r="r" b="b" t="t" l="l"/>
              <a:pathLst>
                <a:path h="19050" w="2756281">
                  <a:moveTo>
                    <a:pt x="0" y="0"/>
                  </a:moveTo>
                  <a:lnTo>
                    <a:pt x="2756281" y="0"/>
                  </a:lnTo>
                  <a:lnTo>
                    <a:pt x="275628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545362" y="7592911"/>
            <a:ext cx="2669534" cy="14288"/>
            <a:chOff x="0" y="0"/>
            <a:chExt cx="3559378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59429" cy="19050"/>
            </a:xfrm>
            <a:custGeom>
              <a:avLst/>
              <a:gdLst/>
              <a:ahLst/>
              <a:cxnLst/>
              <a:rect r="r" b="b" t="t" l="l"/>
              <a:pathLst>
                <a:path h="19050" w="3559429">
                  <a:moveTo>
                    <a:pt x="0" y="0"/>
                  </a:moveTo>
                  <a:lnTo>
                    <a:pt x="3559429" y="0"/>
                  </a:lnTo>
                  <a:lnTo>
                    <a:pt x="35594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592442" y="6785667"/>
            <a:ext cx="1154611" cy="257175"/>
            <a:chOff x="0" y="0"/>
            <a:chExt cx="1539481" cy="342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39494" cy="342900"/>
            </a:xfrm>
            <a:custGeom>
              <a:avLst/>
              <a:gdLst/>
              <a:ahLst/>
              <a:cxnLst/>
              <a:rect r="r" b="b" t="t" l="l"/>
              <a:pathLst>
                <a:path h="342900" w="15394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463294" y="0"/>
                  </a:lnTo>
                  <a:cubicBezTo>
                    <a:pt x="1505331" y="0"/>
                    <a:pt x="1539494" y="34163"/>
                    <a:pt x="1539494" y="76200"/>
                  </a:cubicBezTo>
                  <a:lnTo>
                    <a:pt x="1539494" y="266700"/>
                  </a:lnTo>
                  <a:cubicBezTo>
                    <a:pt x="1539494" y="308737"/>
                    <a:pt x="1505331" y="342900"/>
                    <a:pt x="1463294" y="342900"/>
                  </a:cubicBezTo>
                  <a:lnTo>
                    <a:pt x="76200" y="342900"/>
                  </a:lnTo>
                  <a:cubicBezTo>
                    <a:pt x="34163" y="342900"/>
                    <a:pt x="0" y="308737"/>
                    <a:pt x="0" y="2667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59662" y="6785667"/>
            <a:ext cx="846087" cy="257175"/>
            <a:chOff x="0" y="0"/>
            <a:chExt cx="1128116" cy="3429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8141" cy="342900"/>
            </a:xfrm>
            <a:custGeom>
              <a:avLst/>
              <a:gdLst/>
              <a:ahLst/>
              <a:cxnLst/>
              <a:rect r="r" b="b" t="t" l="l"/>
              <a:pathLst>
                <a:path h="342900" w="112814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51941" y="0"/>
                  </a:lnTo>
                  <a:cubicBezTo>
                    <a:pt x="1093978" y="0"/>
                    <a:pt x="1128141" y="34163"/>
                    <a:pt x="1128141" y="76200"/>
                  </a:cubicBezTo>
                  <a:lnTo>
                    <a:pt x="1128141" y="266700"/>
                  </a:lnTo>
                  <a:cubicBezTo>
                    <a:pt x="1128141" y="308737"/>
                    <a:pt x="1093978" y="342900"/>
                    <a:pt x="1051941" y="342900"/>
                  </a:cubicBezTo>
                  <a:lnTo>
                    <a:pt x="76200" y="342900"/>
                  </a:lnTo>
                  <a:cubicBezTo>
                    <a:pt x="34163" y="342900"/>
                    <a:pt x="0" y="308737"/>
                    <a:pt x="0" y="266700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592442" y="7257155"/>
            <a:ext cx="1154611" cy="257175"/>
            <a:chOff x="0" y="0"/>
            <a:chExt cx="1539481" cy="3429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39494" cy="342900"/>
            </a:xfrm>
            <a:custGeom>
              <a:avLst/>
              <a:gdLst/>
              <a:ahLst/>
              <a:cxnLst/>
              <a:rect r="r" b="b" t="t" l="l"/>
              <a:pathLst>
                <a:path h="342900" w="15394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463294" y="0"/>
                  </a:lnTo>
                  <a:cubicBezTo>
                    <a:pt x="1505331" y="0"/>
                    <a:pt x="1539494" y="34163"/>
                    <a:pt x="1539494" y="76200"/>
                  </a:cubicBezTo>
                  <a:lnTo>
                    <a:pt x="1539494" y="266700"/>
                  </a:lnTo>
                  <a:cubicBezTo>
                    <a:pt x="1539494" y="308737"/>
                    <a:pt x="1505331" y="342900"/>
                    <a:pt x="1463294" y="342900"/>
                  </a:cubicBezTo>
                  <a:lnTo>
                    <a:pt x="76200" y="342900"/>
                  </a:lnTo>
                  <a:cubicBezTo>
                    <a:pt x="34163" y="342900"/>
                    <a:pt x="0" y="308737"/>
                    <a:pt x="0" y="2667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59662" y="7257155"/>
            <a:ext cx="1154611" cy="257175"/>
            <a:chOff x="0" y="0"/>
            <a:chExt cx="1539481" cy="3429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39494" cy="342900"/>
            </a:xfrm>
            <a:custGeom>
              <a:avLst/>
              <a:gdLst/>
              <a:ahLst/>
              <a:cxnLst/>
              <a:rect r="r" b="b" t="t" l="l"/>
              <a:pathLst>
                <a:path h="342900" w="153949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463294" y="0"/>
                  </a:lnTo>
                  <a:cubicBezTo>
                    <a:pt x="1505331" y="0"/>
                    <a:pt x="1539494" y="34163"/>
                    <a:pt x="1539494" y="76200"/>
                  </a:cubicBezTo>
                  <a:lnTo>
                    <a:pt x="1539494" y="266700"/>
                  </a:lnTo>
                  <a:cubicBezTo>
                    <a:pt x="1539494" y="308737"/>
                    <a:pt x="1505331" y="342900"/>
                    <a:pt x="1463294" y="342900"/>
                  </a:cubicBezTo>
                  <a:lnTo>
                    <a:pt x="76200" y="342900"/>
                  </a:lnTo>
                  <a:cubicBezTo>
                    <a:pt x="34163" y="342900"/>
                    <a:pt x="0" y="308737"/>
                    <a:pt x="0" y="26670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5862" y="1900238"/>
            <a:ext cx="271462" cy="214312"/>
            <a:chOff x="0" y="0"/>
            <a:chExt cx="361950" cy="28575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361950" cy="285750"/>
            </a:xfrm>
            <a:custGeom>
              <a:avLst/>
              <a:gdLst/>
              <a:ahLst/>
              <a:cxnLst/>
              <a:rect r="r" b="b" t="t" l="l"/>
              <a:pathLst>
                <a:path h="2857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1185862" y="6185594"/>
          <a:ext cx="9010650" cy="1428750"/>
        </p:xfrm>
        <a:graphic>
          <a:graphicData uri="http://schemas.openxmlformats.org/drawingml/2006/table">
            <a:tbl>
              <a:tblPr/>
              <a:tblGrid>
                <a:gridCol w="4283540"/>
                <a:gridCol w="2063014"/>
                <a:gridCol w="2664095"/>
              </a:tblGrid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Classe de Aparelho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Modo Inline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Immersive VR / AR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PC Desktop / Smartphone 2D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Headset VR / Aparelho AR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51" id="51"/>
          <p:cNvSpPr txBox="true"/>
          <p:nvPr/>
        </p:nvSpPr>
        <p:spPr>
          <a:xfrm rot="0">
            <a:off x="800100" y="552450"/>
            <a:ext cx="7950994" cy="5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O QUE O APARELHO OFERECE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571625" y="1834908"/>
            <a:ext cx="7888709" cy="344972"/>
            <a:chOff x="0" y="0"/>
            <a:chExt cx="10518279" cy="4599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518279" cy="459963"/>
            </a:xfrm>
            <a:custGeom>
              <a:avLst/>
              <a:gdLst/>
              <a:ahLst/>
              <a:cxnLst/>
              <a:rect r="r" b="b" t="t" l="l"/>
              <a:pathLst>
                <a:path h="459963" w="10518279">
                  <a:moveTo>
                    <a:pt x="0" y="0"/>
                  </a:moveTo>
                  <a:lnTo>
                    <a:pt x="10518279" y="0"/>
                  </a:lnTo>
                  <a:lnTo>
                    <a:pt x="10518279" y="459963"/>
                  </a:lnTo>
                  <a:lnTo>
                    <a:pt x="0" y="4599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48" r="-38178" b="-55503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518279" cy="479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CONSULTA DE RECURSOS — TRÊS ESTADOS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414462" y="2409825"/>
            <a:ext cx="2542159" cy="106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818CF8"/>
                </a:solidFill>
                <a:latin typeface="Arimo"/>
                <a:ea typeface="Arimo"/>
                <a:cs typeface="Arimo"/>
                <a:sym typeface="Arimo"/>
              </a:rPr>
              <a:t>type</a:t>
            </a:r>
            <a:r>
              <a:rPr lang="en-US" sz="1462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462">
                <a:solidFill>
                  <a:srgbClr val="FDE047"/>
                </a:solidFill>
                <a:latin typeface="Arimo"/>
                <a:ea typeface="Arimo"/>
                <a:cs typeface="Arimo"/>
                <a:sym typeface="Arimo"/>
              </a:rPr>
              <a:t>EstadoDeRecurso</a:t>
            </a:r>
            <a:r>
              <a:rPr lang="en-US" sz="1462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=</a:t>
            </a:r>
          </a:p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| </a:t>
            </a:r>
            <a:r>
              <a:rPr lang="en-US" sz="1462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'concedido'</a:t>
            </a:r>
          </a:p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| </a:t>
            </a:r>
            <a:r>
              <a:rPr lang="en-US" sz="1462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'negado'</a:t>
            </a:r>
          </a:p>
          <a:p>
            <a:pPr algn="l">
              <a:lnSpc>
                <a:spcPts val="2119"/>
              </a:lnSpc>
            </a:pPr>
            <a:r>
              <a:rPr lang="en-US" sz="1462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| </a:t>
            </a:r>
            <a:r>
              <a:rPr lang="en-US" sz="1462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'indeterminado'</a:t>
            </a:r>
            <a:r>
              <a:rPr lang="en-US" sz="1462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;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00162" y="5734500"/>
            <a:ext cx="8705925" cy="344972"/>
            <a:chOff x="0" y="0"/>
            <a:chExt cx="11607900" cy="4599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607900" cy="459963"/>
            </a:xfrm>
            <a:custGeom>
              <a:avLst/>
              <a:gdLst/>
              <a:ahLst/>
              <a:cxnLst/>
              <a:rect r="r" b="b" t="t" l="l"/>
              <a:pathLst>
                <a:path h="459963" w="11607900">
                  <a:moveTo>
                    <a:pt x="0" y="0"/>
                  </a:moveTo>
                  <a:lnTo>
                    <a:pt x="11607900" y="0"/>
                  </a:lnTo>
                  <a:lnTo>
                    <a:pt x="11607900" y="459963"/>
                  </a:lnTo>
                  <a:lnTo>
                    <a:pt x="0" y="4599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681" r="-28326" b="-57037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1607900" cy="479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0369A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MESMO ENDEREÇO EM 2 CLASSES DE APARELHO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109441" y="2082686"/>
            <a:ext cx="1241369" cy="32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6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POR QUÊ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53850" y="2073161"/>
            <a:ext cx="4070959" cy="30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1919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Impacto Arquitetural da Checagem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602338" y="2786027"/>
            <a:ext cx="6850115" cy="337532"/>
            <a:chOff x="0" y="0"/>
            <a:chExt cx="6959052" cy="3429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59055" cy="342900"/>
            </a:xfrm>
            <a:custGeom>
              <a:avLst/>
              <a:gdLst/>
              <a:ahLst/>
              <a:cxnLst/>
              <a:rect r="r" b="b" t="t" l="l"/>
              <a:pathLst>
                <a:path h="342900" w="6959055">
                  <a:moveTo>
                    <a:pt x="0" y="0"/>
                  </a:moveTo>
                  <a:lnTo>
                    <a:pt x="6959055" y="0"/>
                  </a:lnTo>
                  <a:lnTo>
                    <a:pt x="6959055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744" r="-28398" b="-45774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6959052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 risco de assumir capacidade cega: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310251" y="3178920"/>
            <a:ext cx="6119898" cy="144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0"/>
              </a:lnSpc>
            </a:pPr>
            <a:r>
              <a:rPr lang="en-US" sz="1992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Assumir suporte sem consultar previamente a API WebXR gera exceções não tratadas (DOMException ao solicitar sessão inexistente), paralisando a renderização no navegador.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602338" y="4655343"/>
            <a:ext cx="6850115" cy="337532"/>
            <a:chOff x="0" y="0"/>
            <a:chExt cx="6959052" cy="3429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59055" cy="342900"/>
            </a:xfrm>
            <a:custGeom>
              <a:avLst/>
              <a:gdLst/>
              <a:ahLst/>
              <a:cxnLst/>
              <a:rect r="r" b="b" t="t" l="l"/>
              <a:pathLst>
                <a:path h="342900" w="6959055">
                  <a:moveTo>
                    <a:pt x="0" y="0"/>
                  </a:moveTo>
                  <a:lnTo>
                    <a:pt x="6959055" y="0"/>
                  </a:lnTo>
                  <a:lnTo>
                    <a:pt x="6959055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744" r="-28398" b="-45774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6959052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Ausência não é recusa: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310251" y="5048236"/>
            <a:ext cx="6119898" cy="144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0"/>
              </a:lnSpc>
            </a:pPr>
            <a:r>
              <a:rPr lang="en-US" sz="1992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Tratar o estado </a:t>
            </a:r>
            <a:r>
              <a:rPr lang="en-US" sz="1992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'indeterminado'</a:t>
            </a:r>
            <a:r>
              <a:rPr lang="en-US" sz="1992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como recusa impediria a solicitação de permissão em dispositivos aptos; tratá-lo prematuramente como </a:t>
            </a:r>
            <a:r>
              <a:rPr lang="en-US" sz="1992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'concedido'</a:t>
            </a:r>
            <a:r>
              <a:rPr lang="en-US" sz="1992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causaria travamento na alocação dos sensores.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00162" y="3867741"/>
            <a:ext cx="1560462" cy="26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'concedido'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689174" y="3839166"/>
            <a:ext cx="7840266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O dispositivo possui o sensor e o navegador/usuário autorizou o uso.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00162" y="4270477"/>
            <a:ext cx="1251718" cy="26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50" b="true">
                <a:solidFill>
                  <a:srgbClr val="B91C1C"/>
                </a:solidFill>
                <a:latin typeface="Arimo Bold"/>
                <a:ea typeface="Arimo Bold"/>
                <a:cs typeface="Arimo Bold"/>
                <a:sym typeface="Arimo Bold"/>
              </a:rPr>
              <a:t>'negado'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380431" y="4241902"/>
            <a:ext cx="7125891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A sessão/API consultou o hardware e recebeu recusa explícita.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00162" y="4673203"/>
            <a:ext cx="1986524" cy="26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50" b="true">
                <a:solidFill>
                  <a:srgbClr val="B45309"/>
                </a:solidFill>
                <a:latin typeface="Arimo Bold"/>
                <a:ea typeface="Arimo Bold"/>
                <a:cs typeface="Arimo Bold"/>
                <a:sym typeface="Arimo Bold"/>
              </a:rPr>
              <a:t>'indeterminado'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100835" y="4644628"/>
            <a:ext cx="7125891" cy="29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A sessão não respondeu — </a:t>
            </a:r>
            <a:r>
              <a:rPr lang="en-US" sz="1518" b="true">
                <a:solidFill>
                  <a:srgbClr val="2C3E35"/>
                </a:solidFill>
                <a:latin typeface="Arimo Bold"/>
                <a:ea typeface="Arimo Bold"/>
                <a:cs typeface="Arimo Bold"/>
                <a:sym typeface="Arimo Bold"/>
              </a:rPr>
              <a:t>ausência de resposta não é recusa</a:t>
            </a: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706742" y="6795192"/>
            <a:ext cx="10688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concedido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773962" y="6795192"/>
            <a:ext cx="7603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B91C1C"/>
                </a:solidFill>
                <a:latin typeface="Arimo Bold"/>
                <a:ea typeface="Arimo Bold"/>
                <a:cs typeface="Arimo Bold"/>
                <a:sym typeface="Arimo Bold"/>
              </a:rPr>
              <a:t>negado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706742" y="7266680"/>
            <a:ext cx="10688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concedido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773962" y="7266680"/>
            <a:ext cx="106888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concedido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13986605" y="0"/>
            <a:ext cx="10670450" cy="11301511"/>
          </a:xfrm>
          <a:custGeom>
            <a:avLst/>
            <a:gdLst/>
            <a:ahLst/>
            <a:cxnLst/>
            <a:rect r="r" b="b" t="t" l="l"/>
            <a:pathLst>
              <a:path h="11301511" w="10670450">
                <a:moveTo>
                  <a:pt x="0" y="0"/>
                </a:moveTo>
                <a:lnTo>
                  <a:pt x="10670450" y="0"/>
                </a:lnTo>
                <a:lnTo>
                  <a:pt x="10670450" y="11301511"/>
                </a:lnTo>
                <a:lnTo>
                  <a:pt x="0" y="11301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62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585912"/>
            <a:ext cx="9882930" cy="3771900"/>
            <a:chOff x="0" y="0"/>
            <a:chExt cx="13177241" cy="502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77267" cy="5029200"/>
            </a:xfrm>
            <a:custGeom>
              <a:avLst/>
              <a:gdLst/>
              <a:ahLst/>
              <a:cxnLst/>
              <a:rect r="r" b="b" t="t" l="l"/>
              <a:pathLst>
                <a:path h="5029200" w="131772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948666" y="0"/>
                  </a:lnTo>
                  <a:cubicBezTo>
                    <a:pt x="13074904" y="0"/>
                    <a:pt x="13177267" y="102362"/>
                    <a:pt x="13177267" y="228600"/>
                  </a:cubicBezTo>
                  <a:lnTo>
                    <a:pt x="13177267" y="4800600"/>
                  </a:lnTo>
                  <a:cubicBezTo>
                    <a:pt x="13177267" y="4926838"/>
                    <a:pt x="13074904" y="5029200"/>
                    <a:pt x="12948666" y="5029200"/>
                  </a:cubicBezTo>
                  <a:lnTo>
                    <a:pt x="228600" y="5029200"/>
                  </a:lnTo>
                  <a:cubicBezTo>
                    <a:pt x="102362" y="5029200"/>
                    <a:pt x="0" y="4926838"/>
                    <a:pt x="0" y="480060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586412"/>
            <a:ext cx="9882930" cy="2094014"/>
            <a:chOff x="0" y="0"/>
            <a:chExt cx="13177241" cy="27920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7267" cy="2792095"/>
            </a:xfrm>
            <a:custGeom>
              <a:avLst/>
              <a:gdLst/>
              <a:ahLst/>
              <a:cxnLst/>
              <a:rect r="r" b="b" t="t" l="l"/>
              <a:pathLst>
                <a:path h="2792095" w="131772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948666" y="0"/>
                  </a:lnTo>
                  <a:cubicBezTo>
                    <a:pt x="13074904" y="0"/>
                    <a:pt x="13177267" y="102362"/>
                    <a:pt x="13177267" y="228600"/>
                  </a:cubicBezTo>
                  <a:lnTo>
                    <a:pt x="13177267" y="2563495"/>
                  </a:lnTo>
                  <a:cubicBezTo>
                    <a:pt x="13177267" y="2689733"/>
                    <a:pt x="13074904" y="2792095"/>
                    <a:pt x="12948666" y="2792095"/>
                  </a:cubicBezTo>
                  <a:lnTo>
                    <a:pt x="228600" y="2792095"/>
                  </a:lnTo>
                  <a:cubicBezTo>
                    <a:pt x="102362" y="2792095"/>
                    <a:pt x="0" y="2689733"/>
                    <a:pt x="0" y="256349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86605" y="0"/>
            <a:ext cx="10670450" cy="11301511"/>
          </a:xfrm>
          <a:custGeom>
            <a:avLst/>
            <a:gdLst/>
            <a:ahLst/>
            <a:cxnLst/>
            <a:rect r="r" b="b" t="t" l="l"/>
            <a:pathLst>
              <a:path h="11301511" w="10670450">
                <a:moveTo>
                  <a:pt x="0" y="0"/>
                </a:moveTo>
                <a:lnTo>
                  <a:pt x="10670450" y="0"/>
                </a:lnTo>
                <a:lnTo>
                  <a:pt x="10670450" y="11301511"/>
                </a:lnTo>
                <a:lnTo>
                  <a:pt x="0" y="113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2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025930" y="1585912"/>
            <a:ext cx="6986328" cy="6947999"/>
            <a:chOff x="0" y="0"/>
            <a:chExt cx="6072163" cy="6038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72145" cy="6038850"/>
            </a:xfrm>
            <a:custGeom>
              <a:avLst/>
              <a:gdLst/>
              <a:ahLst/>
              <a:cxnLst/>
              <a:rect r="r" b="b" t="t" l="l"/>
              <a:pathLst>
                <a:path h="6038850" w="6072145">
                  <a:moveTo>
                    <a:pt x="0" y="127357"/>
                  </a:moveTo>
                  <a:cubicBezTo>
                    <a:pt x="0" y="57028"/>
                    <a:pt x="72140" y="0"/>
                    <a:pt x="161108" y="0"/>
                  </a:cubicBezTo>
                  <a:lnTo>
                    <a:pt x="5911037" y="0"/>
                  </a:lnTo>
                  <a:cubicBezTo>
                    <a:pt x="6000005" y="0"/>
                    <a:pt x="6072145" y="57028"/>
                    <a:pt x="6072145" y="127357"/>
                  </a:cubicBezTo>
                  <a:lnTo>
                    <a:pt x="6072145" y="5911493"/>
                  </a:lnTo>
                  <a:cubicBezTo>
                    <a:pt x="6072145" y="5981822"/>
                    <a:pt x="6000005" y="6038850"/>
                    <a:pt x="5911037" y="6038850"/>
                  </a:cubicBezTo>
                  <a:lnTo>
                    <a:pt x="161108" y="6038850"/>
                  </a:lnTo>
                  <a:cubicBezTo>
                    <a:pt x="72140" y="6038850"/>
                    <a:pt x="0" y="5981822"/>
                    <a:pt x="0" y="591149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00100" y="1585912"/>
            <a:ext cx="71438" cy="3771900"/>
            <a:chOff x="0" y="0"/>
            <a:chExt cx="95250" cy="502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50" cy="5029200"/>
            </a:xfrm>
            <a:custGeom>
              <a:avLst/>
              <a:gdLst/>
              <a:ahLst/>
              <a:cxnLst/>
              <a:rect r="r" b="b" t="t" l="l"/>
              <a:pathLst>
                <a:path h="5029200" w="95250">
                  <a:moveTo>
                    <a:pt x="0" y="0"/>
                  </a:moveTo>
                  <a:lnTo>
                    <a:pt x="95250" y="0"/>
                  </a:lnTo>
                  <a:lnTo>
                    <a:pt x="95250" y="5029200"/>
                  </a:lnTo>
                  <a:lnTo>
                    <a:pt x="0" y="5029200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5586412"/>
            <a:ext cx="71438" cy="2094014"/>
            <a:chOff x="0" y="0"/>
            <a:chExt cx="95250" cy="27920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50" cy="2791968"/>
            </a:xfrm>
            <a:custGeom>
              <a:avLst/>
              <a:gdLst/>
              <a:ahLst/>
              <a:cxnLst/>
              <a:rect r="r" b="b" t="t" l="l"/>
              <a:pathLst>
                <a:path h="2791968" w="95250">
                  <a:moveTo>
                    <a:pt x="0" y="0"/>
                  </a:moveTo>
                  <a:lnTo>
                    <a:pt x="95250" y="0"/>
                  </a:lnTo>
                  <a:lnTo>
                    <a:pt x="95250" y="2791968"/>
                  </a:lnTo>
                  <a:lnTo>
                    <a:pt x="0" y="2791968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57288" y="2257425"/>
            <a:ext cx="4505696" cy="2843212"/>
            <a:chOff x="0" y="0"/>
            <a:chExt cx="6007595" cy="3790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07608" cy="3790950"/>
            </a:xfrm>
            <a:custGeom>
              <a:avLst/>
              <a:gdLst/>
              <a:ahLst/>
              <a:cxnLst/>
              <a:rect r="r" b="b" t="t" l="l"/>
              <a:pathLst>
                <a:path h="3790950" w="600760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855208" y="0"/>
                  </a:lnTo>
                  <a:cubicBezTo>
                    <a:pt x="5939409" y="0"/>
                    <a:pt x="6007608" y="68199"/>
                    <a:pt x="6007608" y="152400"/>
                  </a:cubicBezTo>
                  <a:lnTo>
                    <a:pt x="6007608" y="3638550"/>
                  </a:lnTo>
                  <a:cubicBezTo>
                    <a:pt x="6007608" y="3722751"/>
                    <a:pt x="5939409" y="3790950"/>
                    <a:pt x="5855208" y="3790950"/>
                  </a:cubicBezTo>
                  <a:lnTo>
                    <a:pt x="152400" y="3790950"/>
                  </a:lnTo>
                  <a:cubicBezTo>
                    <a:pt x="68199" y="3790950"/>
                    <a:pt x="0" y="3722751"/>
                    <a:pt x="0" y="3638550"/>
                  </a:cubicBezTo>
                  <a:close/>
                </a:path>
              </a:pathLst>
            </a:custGeom>
            <a:solidFill>
              <a:srgbClr val="1A2E2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891584" y="2257425"/>
            <a:ext cx="4505696" cy="2886075"/>
            <a:chOff x="0" y="0"/>
            <a:chExt cx="6007595" cy="384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07608" cy="3848100"/>
            </a:xfrm>
            <a:custGeom>
              <a:avLst/>
              <a:gdLst/>
              <a:ahLst/>
              <a:cxnLst/>
              <a:rect r="r" b="b" t="t" l="l"/>
              <a:pathLst>
                <a:path h="3848100" w="6007608">
                  <a:moveTo>
                    <a:pt x="0" y="154697"/>
                  </a:moveTo>
                  <a:cubicBezTo>
                    <a:pt x="0" y="69227"/>
                    <a:pt x="68199" y="0"/>
                    <a:pt x="152400" y="0"/>
                  </a:cubicBezTo>
                  <a:lnTo>
                    <a:pt x="5855208" y="0"/>
                  </a:lnTo>
                  <a:cubicBezTo>
                    <a:pt x="5939409" y="0"/>
                    <a:pt x="6007608" y="69227"/>
                    <a:pt x="6007608" y="154697"/>
                  </a:cubicBezTo>
                  <a:lnTo>
                    <a:pt x="6007608" y="3693402"/>
                  </a:lnTo>
                  <a:cubicBezTo>
                    <a:pt x="6007608" y="3778873"/>
                    <a:pt x="5939409" y="3848100"/>
                    <a:pt x="5855208" y="3848100"/>
                  </a:cubicBezTo>
                  <a:lnTo>
                    <a:pt x="152400" y="3848100"/>
                  </a:lnTo>
                  <a:cubicBezTo>
                    <a:pt x="68199" y="3848100"/>
                    <a:pt x="0" y="3778873"/>
                    <a:pt x="0" y="3693402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96993" y="2071490"/>
            <a:ext cx="1813455" cy="569867"/>
            <a:chOff x="0" y="0"/>
            <a:chExt cx="1576163" cy="495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76163" cy="495300"/>
            </a:xfrm>
            <a:custGeom>
              <a:avLst/>
              <a:gdLst/>
              <a:ahLst/>
              <a:cxnLst/>
              <a:rect r="r" b="b" t="t" l="l"/>
              <a:pathLst>
                <a:path h="495300" w="1576163">
                  <a:moveTo>
                    <a:pt x="0" y="76200"/>
                  </a:moveTo>
                  <a:cubicBezTo>
                    <a:pt x="0" y="34163"/>
                    <a:pt x="35332" y="0"/>
                    <a:pt x="78808" y="0"/>
                  </a:cubicBezTo>
                  <a:lnTo>
                    <a:pt x="1497355" y="0"/>
                  </a:lnTo>
                  <a:cubicBezTo>
                    <a:pt x="1540831" y="0"/>
                    <a:pt x="1576163" y="34163"/>
                    <a:pt x="1576163" y="76200"/>
                  </a:cubicBezTo>
                  <a:lnTo>
                    <a:pt x="1576163" y="419100"/>
                  </a:lnTo>
                  <a:cubicBezTo>
                    <a:pt x="1576163" y="461137"/>
                    <a:pt x="1540831" y="495300"/>
                    <a:pt x="1497355" y="495300"/>
                  </a:cubicBezTo>
                  <a:lnTo>
                    <a:pt x="78808" y="495300"/>
                  </a:lnTo>
                  <a:cubicBezTo>
                    <a:pt x="35332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1A4D2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89336" y="6149411"/>
            <a:ext cx="6306666" cy="21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8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Com o grafo de cena, a GPU/engine efetua a multiplicação composta das matrizes (T_world = T_pai × T_local), garantindo que os </a:t>
            </a:r>
            <a:r>
              <a:rPr lang="en-US" sz="2328" i="true">
                <a:solidFill>
                  <a:srgbClr val="2D4A38"/>
                </a:solidFill>
                <a:latin typeface="Arimo Italics"/>
                <a:ea typeface="Arimo Italics"/>
                <a:cs typeface="Arimo Italics"/>
                <a:sym typeface="Arimo Italics"/>
              </a:rPr>
              <a:t>sockets</a:t>
            </a:r>
            <a:r>
              <a:rPr lang="en-US" sz="2328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e os pratos acompanhem o movimento sem descurar a tolerância de encaixe.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57288" y="1871662"/>
            <a:ext cx="242888" cy="214312"/>
            <a:chOff x="0" y="0"/>
            <a:chExt cx="323850" cy="2857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23850" cy="285750"/>
            </a:xfrm>
            <a:custGeom>
              <a:avLst/>
              <a:gdLst/>
              <a:ahLst/>
              <a:cxnLst/>
              <a:rect r="r" b="b" t="t" l="l"/>
              <a:pathLst>
                <a:path h="28575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00100" y="552450"/>
            <a:ext cx="6263278" cy="5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A CENA COMO ÁRVORE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14475" y="1843088"/>
            <a:ext cx="11192808" cy="271462"/>
            <a:chOff x="0" y="0"/>
            <a:chExt cx="14923745" cy="3619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23740" cy="361950"/>
            </a:xfrm>
            <a:custGeom>
              <a:avLst/>
              <a:gdLst/>
              <a:ahLst/>
              <a:cxnLst/>
              <a:rect r="r" b="b" t="t" l="l"/>
              <a:pathLst>
                <a:path h="361950" w="14923740">
                  <a:moveTo>
                    <a:pt x="0" y="0"/>
                  </a:moveTo>
                  <a:lnTo>
                    <a:pt x="14923740" y="0"/>
                  </a:lnTo>
                  <a:lnTo>
                    <a:pt x="1492374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3397" r="0" b="-7533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4923745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GRAFO DO GRUPO &amp; MONTAGEM DA HIERARQUIA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14475" y="5843588"/>
            <a:ext cx="11192808" cy="271462"/>
            <a:chOff x="0" y="0"/>
            <a:chExt cx="14923745" cy="3619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923740" cy="361950"/>
            </a:xfrm>
            <a:custGeom>
              <a:avLst/>
              <a:gdLst/>
              <a:ahLst/>
              <a:cxnLst/>
              <a:rect r="r" b="b" t="t" l="l"/>
              <a:pathLst>
                <a:path h="361950" w="14923740">
                  <a:moveTo>
                    <a:pt x="0" y="0"/>
                  </a:moveTo>
                  <a:lnTo>
                    <a:pt x="14923740" y="0"/>
                  </a:lnTo>
                  <a:lnTo>
                    <a:pt x="1492374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3397" r="0" b="-7533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923745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0369A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PARENTESCO POR RAZÃO DE PROJETO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57312" y="2381250"/>
            <a:ext cx="4248521" cy="254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405" b="true">
                <a:solidFill>
                  <a:srgbClr val="FDE047"/>
                </a:solidFill>
                <a:latin typeface="Arimo Bold"/>
                <a:ea typeface="Arimo Bold"/>
                <a:cs typeface="Arimo Bold"/>
                <a:sym typeface="Arimo Bold"/>
              </a:rPr>
              <a:t>sala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├── </a:t>
            </a:r>
            <a:r>
              <a:rPr lang="en-US" sz="1405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chao</a:t>
            </a: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(piso, bumbo, caixa, pratos)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└── </a:t>
            </a:r>
            <a:r>
              <a:rPr lang="en-US" sz="1405" b="true">
                <a:solidFill>
                  <a:srgbClr val="FDE047"/>
                </a:solidFill>
                <a:latin typeface="Arimo Bold"/>
                <a:ea typeface="Arimo Bold"/>
                <a:cs typeface="Arimo Bold"/>
                <a:sym typeface="Arimo Bold"/>
              </a:rPr>
              <a:t>suporte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  ├── base-do-suporte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  └── </a:t>
            </a:r>
            <a:r>
              <a:rPr lang="en-US" sz="1405" b="true">
                <a:solidFill>
                  <a:srgbClr val="FDE047"/>
                </a:solidFill>
                <a:latin typeface="Arimo Bold"/>
                <a:ea typeface="Arimo Bold"/>
                <a:cs typeface="Arimo Bold"/>
                <a:sym typeface="Arimo Bold"/>
              </a:rPr>
              <a:t>poste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      ├── </a:t>
            </a:r>
            <a:r>
              <a:rPr lang="en-US" sz="1405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suporte-da-caixa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      ├── </a:t>
            </a:r>
            <a:r>
              <a:rPr lang="en-US" sz="1405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haste-do-chimbal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      └── </a:t>
            </a:r>
            <a:r>
              <a:rPr lang="en-US" sz="1405">
                <a:solidFill>
                  <a:srgbClr val="A7F3D0"/>
                </a:solidFill>
                <a:latin typeface="Arimo"/>
                <a:ea typeface="Arimo"/>
                <a:cs typeface="Arimo"/>
                <a:sym typeface="Arimo"/>
              </a:rPr>
              <a:t>haste-do-ataque</a:t>
            </a:r>
          </a:p>
          <a:p>
            <a:pPr algn="l">
              <a:lnSpc>
                <a:spcPts val="1967"/>
              </a:lnSpc>
            </a:pPr>
            <a:r>
              <a:rPr lang="en-US" sz="1405">
                <a:solidFill>
                  <a:srgbClr val="D0EBD4"/>
                </a:solidFill>
                <a:latin typeface="Arimo"/>
                <a:ea typeface="Arimo"/>
                <a:cs typeface="Arimo"/>
                <a:sym typeface="Arimo"/>
              </a:rPr>
              <a:t>             └── </a:t>
            </a:r>
            <a:r>
              <a:rPr lang="en-US" sz="1405">
                <a:solidFill>
                  <a:srgbClr val="93C5FD"/>
                </a:solidFill>
                <a:latin typeface="Arimo"/>
                <a:ea typeface="Arimo"/>
                <a:cs typeface="Arimo"/>
                <a:sym typeface="Arimo"/>
              </a:rPr>
              <a:t>suporte-painel / painel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91609" y="2381250"/>
            <a:ext cx="4248521" cy="272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suporte = 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Group();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const 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base= 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Group();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poste = 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mesh (/* ... */);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hasteDoAtaque = 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Object3D();</a:t>
            </a:r>
          </a:p>
          <a:p>
            <a:pPr algn="l">
              <a:lnSpc>
                <a:spcPts val="1957"/>
              </a:lnSpc>
            </a:pP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suporte.add(base);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base.add(poste); 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poste.add(hasteDoAtaque);</a:t>
            </a:r>
          </a:p>
          <a:p>
            <a:pPr algn="l">
              <a:lnSpc>
                <a:spcPts val="1957"/>
              </a:lnSpc>
            </a:pP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// src/bancada/core/hierarquia.ts — reparentar() novoPai.add(filho);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69011" y="2149637"/>
            <a:ext cx="1496100" cy="3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41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POR QUÊ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42952" y="2168173"/>
            <a:ext cx="4885554" cy="34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2243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Impacto Arquitetural da Árvore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89336" y="2980856"/>
            <a:ext cx="7125349" cy="491007"/>
            <a:chOff x="0" y="0"/>
            <a:chExt cx="6192994" cy="426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92991" cy="426758"/>
            </a:xfrm>
            <a:custGeom>
              <a:avLst/>
              <a:gdLst/>
              <a:ahLst/>
              <a:cxnLst/>
              <a:rect r="r" b="b" t="t" l="l"/>
              <a:pathLst>
                <a:path h="426758" w="6192991">
                  <a:moveTo>
                    <a:pt x="0" y="0"/>
                  </a:moveTo>
                  <a:lnTo>
                    <a:pt x="6192991" y="0"/>
                  </a:lnTo>
                  <a:lnTo>
                    <a:pt x="6192991" y="426758"/>
                  </a:lnTo>
                  <a:lnTo>
                    <a:pt x="0" y="4267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042" r="-41892" b="-3413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192994" cy="455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 custo de usar coordenadas absolutas: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489336" y="3612356"/>
            <a:ext cx="6306666" cy="168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8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Uma lista plana de coordenadas no mundo obrigaria a recalcular manualmente </a:t>
            </a:r>
            <a:r>
              <a:rPr lang="en-US" sz="2328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sz="2328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matrizes </a:t>
            </a:r>
            <a:r>
              <a:rPr lang="en-US" sz="2328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T_world</a:t>
            </a:r>
            <a:r>
              <a:rPr lang="en-US" sz="2328">
                <a:solidFill>
                  <a:srgbClr val="15803D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328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a cada frame sempre que a estrutura principal fosse transladada ou rotacionada.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489336" y="5567809"/>
            <a:ext cx="3954493" cy="491007"/>
            <a:chOff x="0" y="0"/>
            <a:chExt cx="3437045" cy="42675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37044" cy="426758"/>
            </a:xfrm>
            <a:custGeom>
              <a:avLst/>
              <a:gdLst/>
              <a:ahLst/>
              <a:cxnLst/>
              <a:rect r="r" b="b" t="t" l="l"/>
              <a:pathLst>
                <a:path h="426758" w="3437044">
                  <a:moveTo>
                    <a:pt x="0" y="0"/>
                  </a:moveTo>
                  <a:lnTo>
                    <a:pt x="3437044" y="0"/>
                  </a:lnTo>
                  <a:lnTo>
                    <a:pt x="3437044" y="426758"/>
                  </a:lnTo>
                  <a:lnTo>
                    <a:pt x="0" y="4267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0172" r="-155113" b="-34052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437045" cy="455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Acoplamento matricial elegante: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1612" y="6210300"/>
            <a:ext cx="9068543" cy="58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18" b="true">
                <a:solidFill>
                  <a:srgbClr val="2C3E35"/>
                </a:solidFill>
                <a:latin typeface="Arimo Bold"/>
                <a:ea typeface="Arimo Bold"/>
                <a:cs typeface="Arimo Bold"/>
                <a:sym typeface="Arimo Bold"/>
              </a:rPr>
              <a:t>Deslocamento em Conjunto:</a:t>
            </a: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 Posições e rotações são mantidas estritamente no referencial local do nó pai.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14475" y="6835826"/>
            <a:ext cx="9025680" cy="58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18" b="true">
                <a:solidFill>
                  <a:srgbClr val="2C3E35"/>
                </a:solidFill>
                <a:latin typeface="Arimo Bold"/>
                <a:ea typeface="Arimo Bold"/>
                <a:cs typeface="Arimo Bold"/>
                <a:sym typeface="Arimo Bold"/>
              </a:rPr>
              <a:t>Propagação Automática:</a:t>
            </a: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 Mover a base do suporte desloca o poste, as hastes, os </a:t>
            </a:r>
            <a:r>
              <a:rPr lang="en-US" sz="1518" i="true">
                <a:solidFill>
                  <a:srgbClr val="2C3E35"/>
                </a:solidFill>
                <a:latin typeface="Arimo Italics"/>
                <a:ea typeface="Arimo Italics"/>
                <a:cs typeface="Arimo Italics"/>
                <a:sym typeface="Arimo Italics"/>
              </a:rPr>
              <a:t>sockets</a:t>
            </a:r>
            <a:r>
              <a:rPr lang="en-US" sz="1518">
                <a:solidFill>
                  <a:srgbClr val="2C3E35"/>
                </a:solidFill>
                <a:latin typeface="Arimo"/>
                <a:ea typeface="Arimo"/>
                <a:cs typeface="Arimo"/>
                <a:sym typeface="Arimo"/>
              </a:rPr>
              <a:t> e as peças já encaixadas simultaneamente.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585912"/>
            <a:ext cx="9882930" cy="3756269"/>
            <a:chOff x="0" y="0"/>
            <a:chExt cx="13177241" cy="5008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77267" cy="5008372"/>
            </a:xfrm>
            <a:custGeom>
              <a:avLst/>
              <a:gdLst/>
              <a:ahLst/>
              <a:cxnLst/>
              <a:rect r="r" b="b" t="t" l="l"/>
              <a:pathLst>
                <a:path h="5008372" w="131772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948666" y="0"/>
                  </a:lnTo>
                  <a:cubicBezTo>
                    <a:pt x="13074904" y="0"/>
                    <a:pt x="13177267" y="102362"/>
                    <a:pt x="13177267" y="228600"/>
                  </a:cubicBezTo>
                  <a:lnTo>
                    <a:pt x="13177267" y="4779772"/>
                  </a:lnTo>
                  <a:cubicBezTo>
                    <a:pt x="13177267" y="4906010"/>
                    <a:pt x="13074904" y="5008372"/>
                    <a:pt x="12948666" y="5008372"/>
                  </a:cubicBezTo>
                  <a:lnTo>
                    <a:pt x="228600" y="5008372"/>
                  </a:lnTo>
                  <a:cubicBezTo>
                    <a:pt x="102362" y="5008372"/>
                    <a:pt x="0" y="4906010"/>
                    <a:pt x="0" y="47797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570782"/>
            <a:ext cx="9882930" cy="2557462"/>
            <a:chOff x="0" y="0"/>
            <a:chExt cx="13177241" cy="3409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7267" cy="3409950"/>
            </a:xfrm>
            <a:custGeom>
              <a:avLst/>
              <a:gdLst/>
              <a:ahLst/>
              <a:cxnLst/>
              <a:rect r="r" b="b" t="t" l="l"/>
              <a:pathLst>
                <a:path h="3409950" w="131772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948666" y="0"/>
                  </a:lnTo>
                  <a:cubicBezTo>
                    <a:pt x="13074904" y="0"/>
                    <a:pt x="13177267" y="102362"/>
                    <a:pt x="13177267" y="228600"/>
                  </a:cubicBezTo>
                  <a:lnTo>
                    <a:pt x="13177267" y="3181350"/>
                  </a:lnTo>
                  <a:cubicBezTo>
                    <a:pt x="13177267" y="3307588"/>
                    <a:pt x="13074904" y="3409950"/>
                    <a:pt x="12948666" y="3409950"/>
                  </a:cubicBezTo>
                  <a:lnTo>
                    <a:pt x="228600" y="3409950"/>
                  </a:lnTo>
                  <a:cubicBezTo>
                    <a:pt x="102362" y="3409950"/>
                    <a:pt x="0" y="3307588"/>
                    <a:pt x="0" y="318135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86605" y="0"/>
            <a:ext cx="10670450" cy="11301511"/>
          </a:xfrm>
          <a:custGeom>
            <a:avLst/>
            <a:gdLst/>
            <a:ahLst/>
            <a:cxnLst/>
            <a:rect r="r" b="b" t="t" l="l"/>
            <a:pathLst>
              <a:path h="11301511" w="10670450">
                <a:moveTo>
                  <a:pt x="0" y="0"/>
                </a:moveTo>
                <a:lnTo>
                  <a:pt x="10670450" y="0"/>
                </a:lnTo>
                <a:lnTo>
                  <a:pt x="10670450" y="11301511"/>
                </a:lnTo>
                <a:lnTo>
                  <a:pt x="0" y="113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2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025930" y="2022975"/>
            <a:ext cx="6461970" cy="7476563"/>
            <a:chOff x="0" y="0"/>
            <a:chExt cx="5345515" cy="61848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45499" cy="6184814"/>
            </a:xfrm>
            <a:custGeom>
              <a:avLst/>
              <a:gdLst/>
              <a:ahLst/>
              <a:cxnLst/>
              <a:rect r="r" b="b" t="t" l="l"/>
              <a:pathLst>
                <a:path h="6184814" w="5345499">
                  <a:moveTo>
                    <a:pt x="0" y="130435"/>
                  </a:moveTo>
                  <a:cubicBezTo>
                    <a:pt x="0" y="58406"/>
                    <a:pt x="63507" y="0"/>
                    <a:pt x="141828" y="0"/>
                  </a:cubicBezTo>
                  <a:lnTo>
                    <a:pt x="5203671" y="0"/>
                  </a:lnTo>
                  <a:cubicBezTo>
                    <a:pt x="5281992" y="0"/>
                    <a:pt x="5345499" y="58406"/>
                    <a:pt x="5345499" y="130435"/>
                  </a:cubicBezTo>
                  <a:lnTo>
                    <a:pt x="5345499" y="6054378"/>
                  </a:lnTo>
                  <a:cubicBezTo>
                    <a:pt x="5345499" y="6126407"/>
                    <a:pt x="5281992" y="6184814"/>
                    <a:pt x="5203671" y="6184814"/>
                  </a:cubicBezTo>
                  <a:lnTo>
                    <a:pt x="141828" y="6184814"/>
                  </a:lnTo>
                  <a:cubicBezTo>
                    <a:pt x="63507" y="6184814"/>
                    <a:pt x="0" y="6126407"/>
                    <a:pt x="0" y="605437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00100" y="1585912"/>
            <a:ext cx="71438" cy="3756269"/>
            <a:chOff x="0" y="0"/>
            <a:chExt cx="95250" cy="50083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50" cy="5008372"/>
            </a:xfrm>
            <a:custGeom>
              <a:avLst/>
              <a:gdLst/>
              <a:ahLst/>
              <a:cxnLst/>
              <a:rect r="r" b="b" t="t" l="l"/>
              <a:pathLst>
                <a:path h="5008372" w="95250">
                  <a:moveTo>
                    <a:pt x="0" y="0"/>
                  </a:moveTo>
                  <a:lnTo>
                    <a:pt x="95250" y="0"/>
                  </a:lnTo>
                  <a:lnTo>
                    <a:pt x="95250" y="5008372"/>
                  </a:lnTo>
                  <a:lnTo>
                    <a:pt x="0" y="5008372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7288" y="2257425"/>
            <a:ext cx="9239993" cy="2827582"/>
            <a:chOff x="0" y="0"/>
            <a:chExt cx="12319991" cy="37701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20016" cy="3770122"/>
            </a:xfrm>
            <a:custGeom>
              <a:avLst/>
              <a:gdLst/>
              <a:ahLst/>
              <a:cxnLst/>
              <a:rect r="r" b="b" t="t" l="l"/>
              <a:pathLst>
                <a:path h="3770122" w="12320016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167616" y="0"/>
                  </a:lnTo>
                  <a:cubicBezTo>
                    <a:pt x="12251817" y="0"/>
                    <a:pt x="12320016" y="68199"/>
                    <a:pt x="12320016" y="152400"/>
                  </a:cubicBezTo>
                  <a:lnTo>
                    <a:pt x="12320016" y="3617722"/>
                  </a:lnTo>
                  <a:cubicBezTo>
                    <a:pt x="12320016" y="3701923"/>
                    <a:pt x="12251817" y="3770122"/>
                    <a:pt x="12167616" y="3770122"/>
                  </a:cubicBezTo>
                  <a:lnTo>
                    <a:pt x="152400" y="3770122"/>
                  </a:lnTo>
                  <a:cubicBezTo>
                    <a:pt x="68199" y="3770122"/>
                    <a:pt x="0" y="3701923"/>
                    <a:pt x="0" y="3617722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0100" y="5570782"/>
            <a:ext cx="71438" cy="2557462"/>
            <a:chOff x="0" y="0"/>
            <a:chExt cx="95250" cy="3409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50" cy="3409950"/>
            </a:xfrm>
            <a:custGeom>
              <a:avLst/>
              <a:gdLst/>
              <a:ahLst/>
              <a:cxnLst/>
              <a:rect r="r" b="b" t="t" l="l"/>
              <a:pathLst>
                <a:path h="3409950" w="95250">
                  <a:moveTo>
                    <a:pt x="0" y="0"/>
                  </a:moveTo>
                  <a:lnTo>
                    <a:pt x="95250" y="0"/>
                  </a:lnTo>
                  <a:lnTo>
                    <a:pt x="95250" y="3409950"/>
                  </a:lnTo>
                  <a:lnTo>
                    <a:pt x="0" y="340995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57288" y="6628057"/>
            <a:ext cx="1325613" cy="28575"/>
            <a:chOff x="0" y="0"/>
            <a:chExt cx="1767484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67459" cy="38100"/>
            </a:xfrm>
            <a:custGeom>
              <a:avLst/>
              <a:gdLst/>
              <a:ahLst/>
              <a:cxnLst/>
              <a:rect r="r" b="b" t="t" l="l"/>
              <a:pathLst>
                <a:path h="38100" w="1767459">
                  <a:moveTo>
                    <a:pt x="0" y="0"/>
                  </a:moveTo>
                  <a:lnTo>
                    <a:pt x="1767459" y="0"/>
                  </a:lnTo>
                  <a:lnTo>
                    <a:pt x="17674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482901" y="6628057"/>
            <a:ext cx="2718864" cy="28575"/>
            <a:chOff x="0" y="0"/>
            <a:chExt cx="3625152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25215" cy="38100"/>
            </a:xfrm>
            <a:custGeom>
              <a:avLst/>
              <a:gdLst/>
              <a:ahLst/>
              <a:cxnLst/>
              <a:rect r="r" b="b" t="t" l="l"/>
              <a:pathLst>
                <a:path h="38100" w="3625215">
                  <a:moveTo>
                    <a:pt x="0" y="0"/>
                  </a:moveTo>
                  <a:lnTo>
                    <a:pt x="3625215" y="0"/>
                  </a:lnTo>
                  <a:lnTo>
                    <a:pt x="36252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201764" y="6628057"/>
            <a:ext cx="5195516" cy="28575"/>
            <a:chOff x="0" y="0"/>
            <a:chExt cx="6927355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27342" cy="38100"/>
            </a:xfrm>
            <a:custGeom>
              <a:avLst/>
              <a:gdLst/>
              <a:ahLst/>
              <a:cxnLst/>
              <a:rect r="r" b="b" t="t" l="l"/>
              <a:pathLst>
                <a:path h="38100" w="6927342">
                  <a:moveTo>
                    <a:pt x="0" y="0"/>
                  </a:moveTo>
                  <a:lnTo>
                    <a:pt x="6927342" y="0"/>
                  </a:lnTo>
                  <a:lnTo>
                    <a:pt x="692734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168805" y="2529337"/>
            <a:ext cx="1840543" cy="598747"/>
            <a:chOff x="0" y="0"/>
            <a:chExt cx="1522547" cy="495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2547" cy="495300"/>
            </a:xfrm>
            <a:custGeom>
              <a:avLst/>
              <a:gdLst/>
              <a:ahLst/>
              <a:cxnLst/>
              <a:rect r="r" b="b" t="t" l="l"/>
              <a:pathLst>
                <a:path h="495300" w="1522547">
                  <a:moveTo>
                    <a:pt x="0" y="76200"/>
                  </a:moveTo>
                  <a:cubicBezTo>
                    <a:pt x="0" y="34163"/>
                    <a:pt x="34130" y="0"/>
                    <a:pt x="76127" y="0"/>
                  </a:cubicBezTo>
                  <a:lnTo>
                    <a:pt x="1446419" y="0"/>
                  </a:lnTo>
                  <a:cubicBezTo>
                    <a:pt x="1488416" y="0"/>
                    <a:pt x="1522547" y="34163"/>
                    <a:pt x="1522547" y="76200"/>
                  </a:cubicBezTo>
                  <a:lnTo>
                    <a:pt x="1522547" y="419100"/>
                  </a:lnTo>
                  <a:cubicBezTo>
                    <a:pt x="1522547" y="461137"/>
                    <a:pt x="1488416" y="495300"/>
                    <a:pt x="1446419" y="495300"/>
                  </a:cubicBezTo>
                  <a:lnTo>
                    <a:pt x="76127" y="495300"/>
                  </a:lnTo>
                  <a:cubicBezTo>
                    <a:pt x="34130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57288" y="7049538"/>
            <a:ext cx="1325613" cy="14288"/>
            <a:chOff x="0" y="0"/>
            <a:chExt cx="1767484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67459" cy="19050"/>
            </a:xfrm>
            <a:custGeom>
              <a:avLst/>
              <a:gdLst/>
              <a:ahLst/>
              <a:cxnLst/>
              <a:rect r="r" b="b" t="t" l="l"/>
              <a:pathLst>
                <a:path h="19050" w="1767459">
                  <a:moveTo>
                    <a:pt x="0" y="0"/>
                  </a:moveTo>
                  <a:lnTo>
                    <a:pt x="1767459" y="0"/>
                  </a:lnTo>
                  <a:lnTo>
                    <a:pt x="17674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482901" y="7049538"/>
            <a:ext cx="2718864" cy="14288"/>
            <a:chOff x="0" y="0"/>
            <a:chExt cx="3625152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25215" cy="19050"/>
            </a:xfrm>
            <a:custGeom>
              <a:avLst/>
              <a:gdLst/>
              <a:ahLst/>
              <a:cxnLst/>
              <a:rect r="r" b="b" t="t" l="l"/>
              <a:pathLst>
                <a:path h="19050" w="3625215">
                  <a:moveTo>
                    <a:pt x="0" y="0"/>
                  </a:moveTo>
                  <a:lnTo>
                    <a:pt x="3625215" y="0"/>
                  </a:lnTo>
                  <a:lnTo>
                    <a:pt x="36252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201764" y="7049538"/>
            <a:ext cx="5195516" cy="14288"/>
            <a:chOff x="0" y="0"/>
            <a:chExt cx="6927355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27342" cy="19050"/>
            </a:xfrm>
            <a:custGeom>
              <a:avLst/>
              <a:gdLst/>
              <a:ahLst/>
              <a:cxnLst/>
              <a:rect r="r" b="b" t="t" l="l"/>
              <a:pathLst>
                <a:path h="19050" w="6927342">
                  <a:moveTo>
                    <a:pt x="0" y="0"/>
                  </a:moveTo>
                  <a:lnTo>
                    <a:pt x="6927342" y="0"/>
                  </a:lnTo>
                  <a:lnTo>
                    <a:pt x="692734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7288" y="7449588"/>
            <a:ext cx="1325613" cy="14288"/>
            <a:chOff x="0" y="0"/>
            <a:chExt cx="1767484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67459" cy="19050"/>
            </a:xfrm>
            <a:custGeom>
              <a:avLst/>
              <a:gdLst/>
              <a:ahLst/>
              <a:cxnLst/>
              <a:rect r="r" b="b" t="t" l="l"/>
              <a:pathLst>
                <a:path h="19050" w="1767459">
                  <a:moveTo>
                    <a:pt x="0" y="0"/>
                  </a:moveTo>
                  <a:lnTo>
                    <a:pt x="1767459" y="0"/>
                  </a:lnTo>
                  <a:lnTo>
                    <a:pt x="17674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901" y="7449588"/>
            <a:ext cx="2718864" cy="14288"/>
            <a:chOff x="0" y="0"/>
            <a:chExt cx="3625152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25215" cy="19050"/>
            </a:xfrm>
            <a:custGeom>
              <a:avLst/>
              <a:gdLst/>
              <a:ahLst/>
              <a:cxnLst/>
              <a:rect r="r" b="b" t="t" l="l"/>
              <a:pathLst>
                <a:path h="19050" w="3625215">
                  <a:moveTo>
                    <a:pt x="0" y="0"/>
                  </a:moveTo>
                  <a:lnTo>
                    <a:pt x="3625215" y="0"/>
                  </a:lnTo>
                  <a:lnTo>
                    <a:pt x="36252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201764" y="7449588"/>
            <a:ext cx="5195516" cy="14288"/>
            <a:chOff x="0" y="0"/>
            <a:chExt cx="6927355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27342" cy="19050"/>
            </a:xfrm>
            <a:custGeom>
              <a:avLst/>
              <a:gdLst/>
              <a:ahLst/>
              <a:cxnLst/>
              <a:rect r="r" b="b" t="t" l="l"/>
              <a:pathLst>
                <a:path h="19050" w="6927342">
                  <a:moveTo>
                    <a:pt x="0" y="0"/>
                  </a:moveTo>
                  <a:lnTo>
                    <a:pt x="6927342" y="0"/>
                  </a:lnTo>
                  <a:lnTo>
                    <a:pt x="692734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57288" y="7849638"/>
            <a:ext cx="4044477" cy="14288"/>
            <a:chOff x="0" y="0"/>
            <a:chExt cx="5392636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92674" cy="19050"/>
            </a:xfrm>
            <a:custGeom>
              <a:avLst/>
              <a:gdLst/>
              <a:ahLst/>
              <a:cxnLst/>
              <a:rect r="r" b="b" t="t" l="l"/>
              <a:pathLst>
                <a:path h="19050" w="5392674">
                  <a:moveTo>
                    <a:pt x="0" y="0"/>
                  </a:moveTo>
                  <a:lnTo>
                    <a:pt x="5392674" y="0"/>
                  </a:lnTo>
                  <a:lnTo>
                    <a:pt x="53926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201764" y="7849638"/>
            <a:ext cx="5195516" cy="14288"/>
            <a:chOff x="0" y="0"/>
            <a:chExt cx="6927355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27342" cy="19050"/>
            </a:xfrm>
            <a:custGeom>
              <a:avLst/>
              <a:gdLst/>
              <a:ahLst/>
              <a:cxnLst/>
              <a:rect r="r" b="b" t="t" l="l"/>
              <a:pathLst>
                <a:path h="19050" w="6927342">
                  <a:moveTo>
                    <a:pt x="0" y="0"/>
                  </a:moveTo>
                  <a:lnTo>
                    <a:pt x="6927342" y="0"/>
                  </a:lnTo>
                  <a:lnTo>
                    <a:pt x="692734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344639" y="7528169"/>
            <a:ext cx="2400748" cy="271462"/>
            <a:chOff x="0" y="0"/>
            <a:chExt cx="3200997" cy="3619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01035" cy="361950"/>
            </a:xfrm>
            <a:custGeom>
              <a:avLst/>
              <a:gdLst/>
              <a:ahLst/>
              <a:cxnLst/>
              <a:rect r="r" b="b" t="t" l="l"/>
              <a:pathLst>
                <a:path h="361950" w="320103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124835" y="0"/>
                  </a:lnTo>
                  <a:cubicBezTo>
                    <a:pt x="3166872" y="0"/>
                    <a:pt x="3201035" y="34163"/>
                    <a:pt x="3201035" y="76200"/>
                  </a:cubicBezTo>
                  <a:lnTo>
                    <a:pt x="3201035" y="285750"/>
                  </a:lnTo>
                  <a:cubicBezTo>
                    <a:pt x="3201035" y="327787"/>
                    <a:pt x="3166872" y="361950"/>
                    <a:pt x="3124835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aphicFrame>
        <p:nvGraphicFramePr>
          <p:cNvPr name="Table 41" id="41"/>
          <p:cNvGraphicFramePr>
            <a:graphicFrameLocks noGrp="true"/>
          </p:cNvGraphicFramePr>
          <p:nvPr/>
        </p:nvGraphicFramePr>
        <p:xfrm>
          <a:off x="1157288" y="6242298"/>
          <a:ext cx="9201150" cy="1600200"/>
        </p:xfrm>
        <a:graphic>
          <a:graphicData uri="http://schemas.openxmlformats.org/drawingml/2006/table">
            <a:tbl>
              <a:tblPr/>
              <a:tblGrid>
                <a:gridCol w="1320039"/>
                <a:gridCol w="2707437"/>
                <a:gridCol w="5173674"/>
              </a:tblGrid>
              <a:tr h="400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Estado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Nó Pai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Posição de Mundo (x, y, z) [m]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00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Antes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chao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(0.350000, 1.200000, -0.400000)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Depois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haste-do-ataque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(0.350000, 1.200000, -0.400000)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Desvio Medido (Δ)</a:t>
                      </a: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5828" marR="65828" marT="65828" marB="658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5828" marR="65828" marT="65828" marB="65828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2" id="42"/>
          <p:cNvSpPr txBox="true"/>
          <p:nvPr/>
        </p:nvSpPr>
        <p:spPr>
          <a:xfrm rot="0">
            <a:off x="800100" y="552450"/>
            <a:ext cx="4181770" cy="5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TROCAR DE PAI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57325" y="1843088"/>
            <a:ext cx="11249958" cy="271462"/>
            <a:chOff x="0" y="0"/>
            <a:chExt cx="14999945" cy="3619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999940" cy="361950"/>
            </a:xfrm>
            <a:custGeom>
              <a:avLst/>
              <a:gdLst/>
              <a:ahLst/>
              <a:cxnLst/>
              <a:rect r="r" b="b" t="t" l="l"/>
              <a:pathLst>
                <a:path h="361950" w="14999940">
                  <a:moveTo>
                    <a:pt x="0" y="0"/>
                  </a:moveTo>
                  <a:lnTo>
                    <a:pt x="14999940" y="0"/>
                  </a:lnTo>
                  <a:lnTo>
                    <a:pt x="1499994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499" r="0" b="-75749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4999945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CONTA MATRICIAL DE PRESERVAÇÃO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57312" y="2381250"/>
            <a:ext cx="8982818" cy="253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 i="tru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// Preserva posição global ao mudar de pai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filho.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updateWorldMatrix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);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novoPai.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updateWorldMatrix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);</a:t>
            </a:r>
          </a:p>
          <a:p>
            <a:pPr algn="l">
              <a:lnSpc>
                <a:spcPts val="1957"/>
              </a:lnSpc>
            </a:pPr>
          </a:p>
          <a:p>
            <a:pPr algn="l">
              <a:lnSpc>
                <a:spcPts val="1957"/>
              </a:lnSpc>
            </a:pPr>
            <a:r>
              <a:rPr lang="en-US" sz="1350" i="tru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// M_nova_local = (M_novo_pai)^-1 × M_filho_mundo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mLocal = novoPai.matrixWorld.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clone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().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invert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()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  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multiply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(filho.matrixWorld);</a:t>
            </a:r>
          </a:p>
          <a:p>
            <a:pPr algn="l">
              <a:lnSpc>
                <a:spcPts val="1957"/>
              </a:lnSpc>
            </a:pP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novoPai.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add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(filho);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mLocal.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decompose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(filho.position, filho.quaternion, filho.scale);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85900" y="5827957"/>
            <a:ext cx="11221383" cy="271462"/>
            <a:chOff x="0" y="0"/>
            <a:chExt cx="14961845" cy="3619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961840" cy="361950"/>
            </a:xfrm>
            <a:custGeom>
              <a:avLst/>
              <a:gdLst/>
              <a:ahLst/>
              <a:cxnLst/>
              <a:rect r="r" b="b" t="t" l="l"/>
              <a:pathLst>
                <a:path h="361950" w="14961840">
                  <a:moveTo>
                    <a:pt x="0" y="0"/>
                  </a:moveTo>
                  <a:lnTo>
                    <a:pt x="14961840" y="0"/>
                  </a:lnTo>
                  <a:lnTo>
                    <a:pt x="1496184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448" r="0" b="-75544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4961845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0369A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ENCAIXE DO PRATO DE ATAQUE (MEDIÇÃO REAL)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246115" y="2594726"/>
            <a:ext cx="1811968" cy="40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538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POR QUÊ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43833" y="2633107"/>
            <a:ext cx="4266678" cy="37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357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Impacto da Troca Pontual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303870" y="3463957"/>
            <a:ext cx="6547695" cy="422282"/>
            <a:chOff x="0" y="0"/>
            <a:chExt cx="5416429" cy="34932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16427" cy="349323"/>
            </a:xfrm>
            <a:custGeom>
              <a:avLst/>
              <a:gdLst/>
              <a:ahLst/>
              <a:cxnLst/>
              <a:rect r="r" b="b" t="t" l="l"/>
              <a:pathLst>
                <a:path h="349323" w="5416427">
                  <a:moveTo>
                    <a:pt x="0" y="0"/>
                  </a:moveTo>
                  <a:lnTo>
                    <a:pt x="5416427" y="0"/>
                  </a:lnTo>
                  <a:lnTo>
                    <a:pt x="5416427" y="349323"/>
                  </a:lnTo>
                  <a:lnTo>
                    <a:pt x="0" y="349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888" r="-61181" b="-43604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416429" cy="358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 que recalcular a cada quadro foi descartado: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454555" y="4135650"/>
            <a:ext cx="5517554" cy="252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14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Manter o prato solto e recalcular sua posição relativa via script manual em todo frame causa custo causa custo O(N). desnecessário na CPU e acúmulo de erro numérico por arredondamento de matrizes.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303870" y="6815744"/>
            <a:ext cx="6576270" cy="422282"/>
            <a:chOff x="0" y="0"/>
            <a:chExt cx="5440067" cy="3493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40065" cy="349323"/>
            </a:xfrm>
            <a:custGeom>
              <a:avLst/>
              <a:gdLst/>
              <a:ahLst/>
              <a:cxnLst/>
              <a:rect r="r" b="b" t="t" l="l"/>
              <a:pathLst>
                <a:path h="349323" w="5440065">
                  <a:moveTo>
                    <a:pt x="0" y="0"/>
                  </a:moveTo>
                  <a:lnTo>
                    <a:pt x="5440065" y="0"/>
                  </a:lnTo>
                  <a:lnTo>
                    <a:pt x="5440065" y="349323"/>
                  </a:lnTo>
                  <a:lnTo>
                    <a:pt x="0" y="349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013" r="-61181" b="-4381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5440067" cy="358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Execução O(1) no evento de encaixe: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454555" y="7304877"/>
            <a:ext cx="5256704" cy="209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04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A inversão matricial é executada </a:t>
            </a:r>
            <a:r>
              <a:rPr lang="en-US" sz="2304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uma única vez</a:t>
            </a:r>
            <a:r>
              <a:rPr lang="en-US" sz="2304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 no instante do encaixe. Nos quadros seguintes, a engine propaga o movimento do pai de forma nativa e sem custo adicional de código.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430364" y="7547219"/>
            <a:ext cx="2829487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0.000000 m (0.00 mm)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585912"/>
            <a:ext cx="9882930" cy="2513933"/>
            <a:chOff x="0" y="0"/>
            <a:chExt cx="13177241" cy="3351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77267" cy="3351911"/>
            </a:xfrm>
            <a:custGeom>
              <a:avLst/>
              <a:gdLst/>
              <a:ahLst/>
              <a:cxnLst/>
              <a:rect r="r" b="b" t="t" l="l"/>
              <a:pathLst>
                <a:path h="3351911" w="131772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948666" y="0"/>
                  </a:lnTo>
                  <a:cubicBezTo>
                    <a:pt x="13074904" y="0"/>
                    <a:pt x="13177267" y="102362"/>
                    <a:pt x="13177267" y="228600"/>
                  </a:cubicBezTo>
                  <a:lnTo>
                    <a:pt x="13177267" y="3123311"/>
                  </a:lnTo>
                  <a:cubicBezTo>
                    <a:pt x="13177267" y="3249549"/>
                    <a:pt x="13074904" y="3351911"/>
                    <a:pt x="12948666" y="3351911"/>
                  </a:cubicBezTo>
                  <a:lnTo>
                    <a:pt x="228600" y="3351911"/>
                  </a:lnTo>
                  <a:cubicBezTo>
                    <a:pt x="102362" y="3351911"/>
                    <a:pt x="0" y="3249549"/>
                    <a:pt x="0" y="31233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4328446"/>
            <a:ext cx="9882930" cy="2957512"/>
            <a:chOff x="0" y="0"/>
            <a:chExt cx="13177241" cy="3943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7267" cy="3943350"/>
            </a:xfrm>
            <a:custGeom>
              <a:avLst/>
              <a:gdLst/>
              <a:ahLst/>
              <a:cxnLst/>
              <a:rect r="r" b="b" t="t" l="l"/>
              <a:pathLst>
                <a:path h="3943350" w="1317726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948666" y="0"/>
                  </a:lnTo>
                  <a:cubicBezTo>
                    <a:pt x="13074904" y="0"/>
                    <a:pt x="13177267" y="102362"/>
                    <a:pt x="13177267" y="228600"/>
                  </a:cubicBezTo>
                  <a:lnTo>
                    <a:pt x="13177267" y="3714750"/>
                  </a:lnTo>
                  <a:cubicBezTo>
                    <a:pt x="13177267" y="3840988"/>
                    <a:pt x="13074904" y="3943350"/>
                    <a:pt x="12948666" y="3943350"/>
                  </a:cubicBezTo>
                  <a:lnTo>
                    <a:pt x="228600" y="3943350"/>
                  </a:lnTo>
                  <a:cubicBezTo>
                    <a:pt x="102362" y="3943350"/>
                    <a:pt x="0" y="3840988"/>
                    <a:pt x="0" y="37147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11630" y="1812497"/>
            <a:ext cx="6563677" cy="6374915"/>
            <a:chOff x="0" y="0"/>
            <a:chExt cx="6824782" cy="66285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24762" cy="6628511"/>
            </a:xfrm>
            <a:custGeom>
              <a:avLst/>
              <a:gdLst/>
              <a:ahLst/>
              <a:cxnLst/>
              <a:rect r="r" b="b" t="t" l="l"/>
              <a:pathLst>
                <a:path h="6628511" w="6824762">
                  <a:moveTo>
                    <a:pt x="0" y="139793"/>
                  </a:moveTo>
                  <a:cubicBezTo>
                    <a:pt x="0" y="62596"/>
                    <a:pt x="81082" y="0"/>
                    <a:pt x="181076" y="0"/>
                  </a:cubicBezTo>
                  <a:lnTo>
                    <a:pt x="6643685" y="0"/>
                  </a:lnTo>
                  <a:cubicBezTo>
                    <a:pt x="6743680" y="0"/>
                    <a:pt x="6824762" y="62596"/>
                    <a:pt x="6824762" y="139793"/>
                  </a:cubicBezTo>
                  <a:lnTo>
                    <a:pt x="6824762" y="6488718"/>
                  </a:lnTo>
                  <a:cubicBezTo>
                    <a:pt x="6824762" y="6565915"/>
                    <a:pt x="6743680" y="6628511"/>
                    <a:pt x="6643685" y="6628511"/>
                  </a:cubicBezTo>
                  <a:lnTo>
                    <a:pt x="181076" y="6628511"/>
                  </a:lnTo>
                  <a:cubicBezTo>
                    <a:pt x="81082" y="6628511"/>
                    <a:pt x="0" y="6565915"/>
                    <a:pt x="0" y="648871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1585912"/>
            <a:ext cx="71438" cy="2513933"/>
            <a:chOff x="0" y="0"/>
            <a:chExt cx="95250" cy="3351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50" cy="3351911"/>
            </a:xfrm>
            <a:custGeom>
              <a:avLst/>
              <a:gdLst/>
              <a:ahLst/>
              <a:cxnLst/>
              <a:rect r="r" b="b" t="t" l="l"/>
              <a:pathLst>
                <a:path h="3351911" w="95250">
                  <a:moveTo>
                    <a:pt x="0" y="0"/>
                  </a:moveTo>
                  <a:lnTo>
                    <a:pt x="95250" y="0"/>
                  </a:lnTo>
                  <a:lnTo>
                    <a:pt x="95250" y="3351911"/>
                  </a:lnTo>
                  <a:lnTo>
                    <a:pt x="0" y="335191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2257425"/>
            <a:ext cx="9239993" cy="1585246"/>
            <a:chOff x="0" y="0"/>
            <a:chExt cx="12319991" cy="21136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20016" cy="2113661"/>
            </a:xfrm>
            <a:custGeom>
              <a:avLst/>
              <a:gdLst/>
              <a:ahLst/>
              <a:cxnLst/>
              <a:rect r="r" b="b" t="t" l="l"/>
              <a:pathLst>
                <a:path h="2113661" w="12320016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167616" y="0"/>
                  </a:lnTo>
                  <a:cubicBezTo>
                    <a:pt x="12251817" y="0"/>
                    <a:pt x="12320016" y="68199"/>
                    <a:pt x="12320016" y="152400"/>
                  </a:cubicBezTo>
                  <a:lnTo>
                    <a:pt x="12320016" y="1961261"/>
                  </a:lnTo>
                  <a:cubicBezTo>
                    <a:pt x="12320016" y="2045462"/>
                    <a:pt x="12251817" y="2113661"/>
                    <a:pt x="12167616" y="2113661"/>
                  </a:cubicBezTo>
                  <a:lnTo>
                    <a:pt x="152400" y="2113661"/>
                  </a:lnTo>
                  <a:cubicBezTo>
                    <a:pt x="68199" y="2113661"/>
                    <a:pt x="0" y="2045462"/>
                    <a:pt x="0" y="1961261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0100" y="4328446"/>
            <a:ext cx="71438" cy="2957512"/>
            <a:chOff x="0" y="0"/>
            <a:chExt cx="95250" cy="3943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50" cy="3943350"/>
            </a:xfrm>
            <a:custGeom>
              <a:avLst/>
              <a:gdLst/>
              <a:ahLst/>
              <a:cxnLst/>
              <a:rect r="r" b="b" t="t" l="l"/>
              <a:pathLst>
                <a:path h="3943350" w="95250">
                  <a:moveTo>
                    <a:pt x="0" y="0"/>
                  </a:moveTo>
                  <a:lnTo>
                    <a:pt x="95250" y="0"/>
                  </a:lnTo>
                  <a:lnTo>
                    <a:pt x="95250" y="3943350"/>
                  </a:lnTo>
                  <a:lnTo>
                    <a:pt x="0" y="394335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7288" y="5385721"/>
            <a:ext cx="2763517" cy="28575"/>
            <a:chOff x="0" y="0"/>
            <a:chExt cx="3684689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84651" cy="38100"/>
            </a:xfrm>
            <a:custGeom>
              <a:avLst/>
              <a:gdLst/>
              <a:ahLst/>
              <a:cxnLst/>
              <a:rect r="r" b="b" t="t" l="l"/>
              <a:pathLst>
                <a:path h="38100" w="3684651">
                  <a:moveTo>
                    <a:pt x="0" y="0"/>
                  </a:moveTo>
                  <a:lnTo>
                    <a:pt x="3684651" y="0"/>
                  </a:lnTo>
                  <a:lnTo>
                    <a:pt x="368465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920804" y="5385721"/>
            <a:ext cx="3109093" cy="28575"/>
            <a:chOff x="0" y="0"/>
            <a:chExt cx="4145458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45407" cy="38100"/>
            </a:xfrm>
            <a:custGeom>
              <a:avLst/>
              <a:gdLst/>
              <a:ahLst/>
              <a:cxnLst/>
              <a:rect r="r" b="b" t="t" l="l"/>
              <a:pathLst>
                <a:path h="38100" w="4145407">
                  <a:moveTo>
                    <a:pt x="0" y="0"/>
                  </a:moveTo>
                  <a:lnTo>
                    <a:pt x="4145407" y="0"/>
                  </a:lnTo>
                  <a:lnTo>
                    <a:pt x="41454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29898" y="5385721"/>
            <a:ext cx="3367383" cy="28575"/>
            <a:chOff x="0" y="0"/>
            <a:chExt cx="4489844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89831" cy="38100"/>
            </a:xfrm>
            <a:custGeom>
              <a:avLst/>
              <a:gdLst/>
              <a:ahLst/>
              <a:cxnLst/>
              <a:rect r="r" b="b" t="t" l="l"/>
              <a:pathLst>
                <a:path h="38100" w="4489831">
                  <a:moveTo>
                    <a:pt x="0" y="0"/>
                  </a:moveTo>
                  <a:lnTo>
                    <a:pt x="4489831" y="0"/>
                  </a:lnTo>
                  <a:lnTo>
                    <a:pt x="448983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0EBD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031008" y="2215563"/>
            <a:ext cx="1476984" cy="476351"/>
            <a:chOff x="0" y="0"/>
            <a:chExt cx="1535739" cy="495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5739" cy="495300"/>
            </a:xfrm>
            <a:custGeom>
              <a:avLst/>
              <a:gdLst/>
              <a:ahLst/>
              <a:cxnLst/>
              <a:rect r="r" b="b" t="t" l="l"/>
              <a:pathLst>
                <a:path h="495300" w="1535739">
                  <a:moveTo>
                    <a:pt x="0" y="76200"/>
                  </a:moveTo>
                  <a:cubicBezTo>
                    <a:pt x="0" y="34163"/>
                    <a:pt x="34426" y="0"/>
                    <a:pt x="76787" y="0"/>
                  </a:cubicBezTo>
                  <a:lnTo>
                    <a:pt x="1458952" y="0"/>
                  </a:lnTo>
                  <a:cubicBezTo>
                    <a:pt x="1501313" y="0"/>
                    <a:pt x="1535739" y="34163"/>
                    <a:pt x="1535739" y="76200"/>
                  </a:cubicBezTo>
                  <a:lnTo>
                    <a:pt x="1535739" y="419100"/>
                  </a:lnTo>
                  <a:cubicBezTo>
                    <a:pt x="1535739" y="461137"/>
                    <a:pt x="1501313" y="495300"/>
                    <a:pt x="1458952" y="495300"/>
                  </a:cubicBezTo>
                  <a:lnTo>
                    <a:pt x="76787" y="495300"/>
                  </a:lnTo>
                  <a:cubicBezTo>
                    <a:pt x="34426" y="495300"/>
                    <a:pt x="0" y="461137"/>
                    <a:pt x="0" y="419100"/>
                  </a:cubicBez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7288" y="5807202"/>
            <a:ext cx="2763517" cy="14288"/>
            <a:chOff x="0" y="0"/>
            <a:chExt cx="3684689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84651" cy="19050"/>
            </a:xfrm>
            <a:custGeom>
              <a:avLst/>
              <a:gdLst/>
              <a:ahLst/>
              <a:cxnLst/>
              <a:rect r="r" b="b" t="t" l="l"/>
              <a:pathLst>
                <a:path h="19050" w="3684651">
                  <a:moveTo>
                    <a:pt x="0" y="0"/>
                  </a:moveTo>
                  <a:lnTo>
                    <a:pt x="3684651" y="0"/>
                  </a:lnTo>
                  <a:lnTo>
                    <a:pt x="368465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920804" y="5807202"/>
            <a:ext cx="3109093" cy="14288"/>
            <a:chOff x="0" y="0"/>
            <a:chExt cx="414545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5407" cy="19050"/>
            </a:xfrm>
            <a:custGeom>
              <a:avLst/>
              <a:gdLst/>
              <a:ahLst/>
              <a:cxnLst/>
              <a:rect r="r" b="b" t="t" l="l"/>
              <a:pathLst>
                <a:path h="19050" w="4145407">
                  <a:moveTo>
                    <a:pt x="0" y="0"/>
                  </a:moveTo>
                  <a:lnTo>
                    <a:pt x="4145407" y="0"/>
                  </a:lnTo>
                  <a:lnTo>
                    <a:pt x="414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029898" y="5807202"/>
            <a:ext cx="3367383" cy="14288"/>
            <a:chOff x="0" y="0"/>
            <a:chExt cx="4489844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9831" cy="19050"/>
            </a:xfrm>
            <a:custGeom>
              <a:avLst/>
              <a:gdLst/>
              <a:ahLst/>
              <a:cxnLst/>
              <a:rect r="r" b="b" t="t" l="l"/>
              <a:pathLst>
                <a:path h="19050" w="4489831">
                  <a:moveTo>
                    <a:pt x="0" y="0"/>
                  </a:moveTo>
                  <a:lnTo>
                    <a:pt x="4489831" y="0"/>
                  </a:lnTo>
                  <a:lnTo>
                    <a:pt x="44898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57288" y="6207252"/>
            <a:ext cx="2763517" cy="14288"/>
            <a:chOff x="0" y="0"/>
            <a:chExt cx="3684689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84651" cy="19050"/>
            </a:xfrm>
            <a:custGeom>
              <a:avLst/>
              <a:gdLst/>
              <a:ahLst/>
              <a:cxnLst/>
              <a:rect r="r" b="b" t="t" l="l"/>
              <a:pathLst>
                <a:path h="19050" w="3684651">
                  <a:moveTo>
                    <a:pt x="0" y="0"/>
                  </a:moveTo>
                  <a:lnTo>
                    <a:pt x="3684651" y="0"/>
                  </a:lnTo>
                  <a:lnTo>
                    <a:pt x="368465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920804" y="6207252"/>
            <a:ext cx="3109093" cy="14288"/>
            <a:chOff x="0" y="0"/>
            <a:chExt cx="4145458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45407" cy="19050"/>
            </a:xfrm>
            <a:custGeom>
              <a:avLst/>
              <a:gdLst/>
              <a:ahLst/>
              <a:cxnLst/>
              <a:rect r="r" b="b" t="t" l="l"/>
              <a:pathLst>
                <a:path h="19050" w="4145407">
                  <a:moveTo>
                    <a:pt x="0" y="0"/>
                  </a:moveTo>
                  <a:lnTo>
                    <a:pt x="4145407" y="0"/>
                  </a:lnTo>
                  <a:lnTo>
                    <a:pt x="414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029898" y="6207252"/>
            <a:ext cx="3367383" cy="14288"/>
            <a:chOff x="0" y="0"/>
            <a:chExt cx="4489844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89831" cy="19050"/>
            </a:xfrm>
            <a:custGeom>
              <a:avLst/>
              <a:gdLst/>
              <a:ahLst/>
              <a:cxnLst/>
              <a:rect r="r" b="b" t="t" l="l"/>
              <a:pathLst>
                <a:path h="19050" w="4489831">
                  <a:moveTo>
                    <a:pt x="0" y="0"/>
                  </a:moveTo>
                  <a:lnTo>
                    <a:pt x="4489831" y="0"/>
                  </a:lnTo>
                  <a:lnTo>
                    <a:pt x="44898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57288" y="6607302"/>
            <a:ext cx="2763517" cy="14288"/>
            <a:chOff x="0" y="0"/>
            <a:chExt cx="3684689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84651" cy="19050"/>
            </a:xfrm>
            <a:custGeom>
              <a:avLst/>
              <a:gdLst/>
              <a:ahLst/>
              <a:cxnLst/>
              <a:rect r="r" b="b" t="t" l="l"/>
              <a:pathLst>
                <a:path h="19050" w="3684651">
                  <a:moveTo>
                    <a:pt x="0" y="0"/>
                  </a:moveTo>
                  <a:lnTo>
                    <a:pt x="3684651" y="0"/>
                  </a:lnTo>
                  <a:lnTo>
                    <a:pt x="368465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920804" y="6607302"/>
            <a:ext cx="3109093" cy="14288"/>
            <a:chOff x="0" y="0"/>
            <a:chExt cx="4145458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5407" cy="19050"/>
            </a:xfrm>
            <a:custGeom>
              <a:avLst/>
              <a:gdLst/>
              <a:ahLst/>
              <a:cxnLst/>
              <a:rect r="r" b="b" t="t" l="l"/>
              <a:pathLst>
                <a:path h="19050" w="4145407">
                  <a:moveTo>
                    <a:pt x="0" y="0"/>
                  </a:moveTo>
                  <a:lnTo>
                    <a:pt x="4145407" y="0"/>
                  </a:lnTo>
                  <a:lnTo>
                    <a:pt x="414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029898" y="6607302"/>
            <a:ext cx="3367383" cy="14288"/>
            <a:chOff x="0" y="0"/>
            <a:chExt cx="4489844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89831" cy="19050"/>
            </a:xfrm>
            <a:custGeom>
              <a:avLst/>
              <a:gdLst/>
              <a:ahLst/>
              <a:cxnLst/>
              <a:rect r="r" b="b" t="t" l="l"/>
              <a:pathLst>
                <a:path h="19050" w="4489831">
                  <a:moveTo>
                    <a:pt x="0" y="0"/>
                  </a:moveTo>
                  <a:lnTo>
                    <a:pt x="4489831" y="0"/>
                  </a:lnTo>
                  <a:lnTo>
                    <a:pt x="44898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57288" y="7007352"/>
            <a:ext cx="2763517" cy="14288"/>
            <a:chOff x="0" y="0"/>
            <a:chExt cx="3684689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84651" cy="19050"/>
            </a:xfrm>
            <a:custGeom>
              <a:avLst/>
              <a:gdLst/>
              <a:ahLst/>
              <a:cxnLst/>
              <a:rect r="r" b="b" t="t" l="l"/>
              <a:pathLst>
                <a:path h="19050" w="3684651">
                  <a:moveTo>
                    <a:pt x="0" y="0"/>
                  </a:moveTo>
                  <a:lnTo>
                    <a:pt x="3684651" y="0"/>
                  </a:lnTo>
                  <a:lnTo>
                    <a:pt x="368465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920804" y="7007352"/>
            <a:ext cx="6476476" cy="14288"/>
            <a:chOff x="0" y="0"/>
            <a:chExt cx="8635302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35365" cy="19050"/>
            </a:xfrm>
            <a:custGeom>
              <a:avLst/>
              <a:gdLst/>
              <a:ahLst/>
              <a:cxnLst/>
              <a:rect r="r" b="b" t="t" l="l"/>
              <a:pathLst>
                <a:path h="19050" w="8635365">
                  <a:moveTo>
                    <a:pt x="0" y="0"/>
                  </a:moveTo>
                  <a:lnTo>
                    <a:pt x="8635365" y="0"/>
                  </a:lnTo>
                  <a:lnTo>
                    <a:pt x="86353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EF4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72773" y="5485733"/>
            <a:ext cx="1954930" cy="271462"/>
            <a:chOff x="0" y="0"/>
            <a:chExt cx="2606573" cy="3619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06548" cy="361950"/>
            </a:xfrm>
            <a:custGeom>
              <a:avLst/>
              <a:gdLst/>
              <a:ahLst/>
              <a:cxnLst/>
              <a:rect r="r" b="b" t="t" l="l"/>
              <a:pathLst>
                <a:path h="361950" w="260654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30348" y="0"/>
                  </a:lnTo>
                  <a:cubicBezTo>
                    <a:pt x="2572385" y="0"/>
                    <a:pt x="2606548" y="34163"/>
                    <a:pt x="2606548" y="76200"/>
                  </a:cubicBezTo>
                  <a:lnTo>
                    <a:pt x="2606548" y="285750"/>
                  </a:lnTo>
                  <a:cubicBezTo>
                    <a:pt x="2606548" y="327787"/>
                    <a:pt x="2572385" y="361950"/>
                    <a:pt x="2530348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72773" y="5885783"/>
            <a:ext cx="1509112" cy="271462"/>
            <a:chOff x="0" y="0"/>
            <a:chExt cx="2012150" cy="3619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2188" cy="361950"/>
            </a:xfrm>
            <a:custGeom>
              <a:avLst/>
              <a:gdLst/>
              <a:ahLst/>
              <a:cxnLst/>
              <a:rect r="r" b="b" t="t" l="l"/>
              <a:pathLst>
                <a:path h="361950" w="201218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935988" y="0"/>
                  </a:lnTo>
                  <a:cubicBezTo>
                    <a:pt x="1978025" y="0"/>
                    <a:pt x="2012188" y="34163"/>
                    <a:pt x="2012188" y="76200"/>
                  </a:cubicBezTo>
                  <a:lnTo>
                    <a:pt x="2012188" y="285750"/>
                  </a:lnTo>
                  <a:cubicBezTo>
                    <a:pt x="2012188" y="327787"/>
                    <a:pt x="1978025" y="361950"/>
                    <a:pt x="1935988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72773" y="6285833"/>
            <a:ext cx="1731912" cy="271462"/>
            <a:chOff x="0" y="0"/>
            <a:chExt cx="2309216" cy="3619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09241" cy="361950"/>
            </a:xfrm>
            <a:custGeom>
              <a:avLst/>
              <a:gdLst/>
              <a:ahLst/>
              <a:cxnLst/>
              <a:rect r="r" b="b" t="t" l="l"/>
              <a:pathLst>
                <a:path h="361950" w="230924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233041" y="0"/>
                  </a:lnTo>
                  <a:cubicBezTo>
                    <a:pt x="2275078" y="0"/>
                    <a:pt x="2309241" y="34163"/>
                    <a:pt x="2309241" y="76200"/>
                  </a:cubicBezTo>
                  <a:lnTo>
                    <a:pt x="2309241" y="285750"/>
                  </a:lnTo>
                  <a:cubicBezTo>
                    <a:pt x="2309241" y="327787"/>
                    <a:pt x="2275078" y="361950"/>
                    <a:pt x="2233041" y="361950"/>
                  </a:cubicBezTo>
                  <a:lnTo>
                    <a:pt x="76200" y="361950"/>
                  </a:lnTo>
                  <a:cubicBezTo>
                    <a:pt x="34163" y="361950"/>
                    <a:pt x="0" y="327787"/>
                    <a:pt x="0" y="285750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</p:grp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1157288" y="4999955"/>
          <a:ext cx="9220200" cy="2000250"/>
        </p:xfrm>
        <a:graphic>
          <a:graphicData uri="http://schemas.openxmlformats.org/drawingml/2006/table">
            <a:tbl>
              <a:tblPr/>
              <a:tblGrid>
                <a:gridCol w="2757595"/>
                <a:gridCol w="3102434"/>
                <a:gridCol w="3360171"/>
              </a:tblGrid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Métrica / Parâmetro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Valor Medido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1A4D2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Status / Alvo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Orçamento do Quadro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16.67 ms / frame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Custo Médio por Quadro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1.82 ms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Pior Intervalo (Pico)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4.10 ms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 b="true">
                          <a:solidFill>
                            <a:srgbClr val="2C3E3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Máquina de Teste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55"/>
                        </a:lnSpc>
                        <a:defRPr/>
                      </a:pPr>
                      <a:r>
                        <a:rPr lang="en-US" sz="1462">
                          <a:solidFill>
                            <a:srgbClr val="2C3E3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Desktop Google Chrome (Intel i7 / GPU Dedicada / 60 Hz)</a:t>
                      </a:r>
                      <a:endParaRPr lang="en-US" sz="1100"/>
                    </a:p>
                  </a:txBody>
                  <a:tcPr marL="65363" marR="65363" marT="65363" marB="6536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65363" marR="65363" marT="65363" marB="65363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1" id="51"/>
          <p:cNvSpPr txBox="true"/>
          <p:nvPr/>
        </p:nvSpPr>
        <p:spPr>
          <a:xfrm rot="0">
            <a:off x="800100" y="552450"/>
            <a:ext cx="10332539" cy="57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RELÓGIO, ORÇAMENTO E O QUE FALTA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457325" y="1915694"/>
            <a:ext cx="14426070" cy="348102"/>
            <a:chOff x="0" y="0"/>
            <a:chExt cx="14999945" cy="3619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999940" cy="361950"/>
            </a:xfrm>
            <a:custGeom>
              <a:avLst/>
              <a:gdLst/>
              <a:ahLst/>
              <a:cxnLst/>
              <a:rect r="r" b="b" t="t" l="l"/>
              <a:pathLst>
                <a:path h="361950" w="14999940">
                  <a:moveTo>
                    <a:pt x="0" y="0"/>
                  </a:moveTo>
                  <a:lnTo>
                    <a:pt x="14999940" y="0"/>
                  </a:lnTo>
                  <a:lnTo>
                    <a:pt x="1499994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7499" r="0" b="-75749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4999945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TETO DE SALTO E OSCILAÇÃO TEMPORAL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57312" y="2381250"/>
            <a:ext cx="8982818" cy="128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 i="tru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// relogio.ts — Prevenção contra salto de quadro (spiral of death)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delta = intervalReal &gt; tetoDeSalto ? tetoDeSalto : intervalReal;</a:t>
            </a:r>
          </a:p>
          <a:p>
            <a:pPr algn="l">
              <a:lnSpc>
                <a:spcPts val="1957"/>
              </a:lnSpc>
            </a:pPr>
          </a:p>
          <a:p>
            <a:pPr algn="l">
              <a:lnSpc>
                <a:spcPts val="1957"/>
              </a:lnSpc>
            </a:pPr>
            <a:r>
              <a:rPr lang="en-US" sz="1350" i="tru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// oficina.ts — Movimento harmônico do poste ancorado no tempo</a:t>
            </a:r>
          </a:p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poste.rotation.z = Math.</a:t>
            </a:r>
            <a:r>
              <a:rPr lang="en-US" sz="1350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sin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(amostra.decorrido * </a:t>
            </a:r>
            <a:r>
              <a:rPr lang="en-US" sz="1350">
                <a:solidFill>
                  <a:srgbClr val="FDE047"/>
                </a:solidFill>
                <a:latin typeface="Arimo"/>
                <a:ea typeface="Arimo"/>
                <a:cs typeface="Arimo"/>
                <a:sym typeface="Arimo"/>
              </a:rPr>
              <a:t>1.2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) * </a:t>
            </a:r>
            <a:r>
              <a:rPr lang="en-US" sz="1350">
                <a:solidFill>
                  <a:srgbClr val="FDE047"/>
                </a:solidFill>
                <a:latin typeface="Arimo"/>
                <a:ea typeface="Arimo"/>
                <a:cs typeface="Arimo"/>
                <a:sym typeface="Arimo"/>
              </a:rPr>
              <a:t>0.025</a:t>
            </a:r>
            <a:r>
              <a:rPr lang="en-US" sz="13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;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485900" y="4548866"/>
            <a:ext cx="7629525" cy="344972"/>
            <a:chOff x="0" y="0"/>
            <a:chExt cx="10172700" cy="4599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72697" cy="459963"/>
            </a:xfrm>
            <a:custGeom>
              <a:avLst/>
              <a:gdLst/>
              <a:ahLst/>
              <a:cxnLst/>
              <a:rect r="r" b="b" t="t" l="l"/>
              <a:pathLst>
                <a:path h="459963" w="10172697">
                  <a:moveTo>
                    <a:pt x="0" y="0"/>
                  </a:moveTo>
                  <a:lnTo>
                    <a:pt x="10172697" y="0"/>
                  </a:lnTo>
                  <a:lnTo>
                    <a:pt x="10172697" y="459963"/>
                  </a:lnTo>
                  <a:lnTo>
                    <a:pt x="0" y="4599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471" r="-47078" b="-57316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172700" cy="479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0369A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ORÇAMENTO DE QUADRO E MEDIÇÕES DO RENDERIZADOR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132639" y="2285430"/>
            <a:ext cx="1809684" cy="31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01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POR QUÊ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82140" y="2278594"/>
            <a:ext cx="3954622" cy="30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4D2E"/>
                </a:solidFill>
                <a:latin typeface="Arimo Bold"/>
                <a:ea typeface="Arimo Bold"/>
                <a:cs typeface="Arimo Bold"/>
                <a:sym typeface="Arimo Bold"/>
              </a:rPr>
              <a:t>Impacto em Diferentes Hardwares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334076" y="2858154"/>
            <a:ext cx="6650751" cy="437010"/>
            <a:chOff x="0" y="0"/>
            <a:chExt cx="6915320" cy="4543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15317" cy="454394"/>
            </a:xfrm>
            <a:custGeom>
              <a:avLst/>
              <a:gdLst/>
              <a:ahLst/>
              <a:cxnLst/>
              <a:rect r="r" b="b" t="t" l="l"/>
              <a:pathLst>
                <a:path h="454394" w="6915317">
                  <a:moveTo>
                    <a:pt x="0" y="0"/>
                  </a:moveTo>
                  <a:lnTo>
                    <a:pt x="6915317" y="0"/>
                  </a:lnTo>
                  <a:lnTo>
                    <a:pt x="6915317" y="454394"/>
                  </a:lnTo>
                  <a:lnTo>
                    <a:pt x="0" y="454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633" r="-26245" b="-31209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915320" cy="473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 perigo do laço baseado em quadros: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347002" y="3394728"/>
            <a:ext cx="5925132" cy="142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946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Se a física/animação contasse quadros (</a:t>
            </a:r>
            <a:r>
              <a:rPr lang="en-US" sz="1946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frame++</a:t>
            </a:r>
            <a:r>
              <a:rPr lang="en-US" sz="1946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), a bateria oscilaria em slow-motion em telas de 30 Hz e em super-velocidade em visores VR de 90 Hz ou 120 Hz.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302155" y="4887425"/>
            <a:ext cx="6650751" cy="437010"/>
            <a:chOff x="0" y="0"/>
            <a:chExt cx="6915320" cy="45439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15317" cy="454394"/>
            </a:xfrm>
            <a:custGeom>
              <a:avLst/>
              <a:gdLst/>
              <a:ahLst/>
              <a:cxnLst/>
              <a:rect r="r" b="b" t="t" l="l"/>
              <a:pathLst>
                <a:path h="454394" w="6915317">
                  <a:moveTo>
                    <a:pt x="0" y="0"/>
                  </a:moveTo>
                  <a:lnTo>
                    <a:pt x="6915317" y="0"/>
                  </a:lnTo>
                  <a:lnTo>
                    <a:pt x="6915317" y="454394"/>
                  </a:lnTo>
                  <a:lnTo>
                    <a:pt x="0" y="454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633" r="-26245" b="-31209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915320" cy="473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1A4D2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Limitações e o que ainda não funciona: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347002" y="5257760"/>
            <a:ext cx="5925132" cy="21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1946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1. VR/AR Físico: </a:t>
            </a:r>
            <a:r>
              <a:rPr lang="en-US" sz="1946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Modos imersivos (immersive-vr/ar) declarados no código, mas pendentes de validação em óculos reais.</a:t>
            </a:r>
          </a:p>
          <a:p>
            <a:pPr algn="l">
              <a:lnSpc>
                <a:spcPts val="2823"/>
              </a:lnSpc>
            </a:pPr>
            <a:r>
              <a:rPr lang="en-US" sz="1946" b="true">
                <a:solidFill>
                  <a:srgbClr val="2D4A38"/>
                </a:solidFill>
                <a:latin typeface="Arimo Bold"/>
                <a:ea typeface="Arimo Bold"/>
                <a:cs typeface="Arimo Bold"/>
                <a:sym typeface="Arimo Bold"/>
              </a:rPr>
              <a:t>2. Áudio 3D: </a:t>
            </a:r>
            <a:r>
              <a:rPr lang="en-US" sz="1946">
                <a:solidFill>
                  <a:srgbClr val="2D4A38"/>
                </a:solidFill>
                <a:latin typeface="Arimo"/>
                <a:ea typeface="Arimo"/>
                <a:cs typeface="Arimo"/>
                <a:sym typeface="Arimo"/>
              </a:rPr>
              <a:t>Disparo de som posicional ao colidir baquetas com pratos ainda não implementado no laço.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258498" y="5504783"/>
            <a:ext cx="2272217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60 FPS (Desktop)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258498" y="5904833"/>
            <a:ext cx="1766287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Folga de 89%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258498" y="6304883"/>
            <a:ext cx="1993440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Sem Lag Spikes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13986605" y="0"/>
            <a:ext cx="10670450" cy="11301511"/>
          </a:xfrm>
          <a:custGeom>
            <a:avLst/>
            <a:gdLst/>
            <a:ahLst/>
            <a:cxnLst/>
            <a:rect r="r" b="b" t="t" l="l"/>
            <a:pathLst>
              <a:path h="11301511" w="10670450">
                <a:moveTo>
                  <a:pt x="0" y="0"/>
                </a:moveTo>
                <a:lnTo>
                  <a:pt x="10670450" y="0"/>
                </a:lnTo>
                <a:lnTo>
                  <a:pt x="10670450" y="11301511"/>
                </a:lnTo>
                <a:lnTo>
                  <a:pt x="0" y="1130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62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DAHWkw6_YDA</dc:identifier>
  <dcterms:modified xsi:type="dcterms:W3CDTF">2011-08-01T06:04:30Z</dcterms:modified>
  <cp:revision>1</cp:revision>
  <dc:title>grupo07_modulo03.pptx</dc:title>
</cp:coreProperties>
</file>